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FBF8B-B178-48F2-9785-1D83210F99D4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B832AB-ED0F-4ABB-A8F5-C005B739EA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189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5CAA0-BBEE-78E4-295C-6818FCE532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D4D8D2-C9FC-8D19-BC40-2713F9C7E0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1F7D7-CC0F-71E0-E902-612DF7952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720BB-4A62-48ED-B9E2-64B608237BD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3EF36-E11F-AD3F-4B89-1F24165EA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CE0CE-B0C7-9D4F-1C09-E332395EA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B6E9D-8C56-4134-A0F8-3EC67D0E9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5453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53AF2-373A-AE88-ADB4-59A680FE2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DFF89-B12B-165D-2D02-46BA5AADA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74FF6-BDC4-D363-21B4-75A340E8A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720BB-4A62-48ED-B9E2-64B608237BD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0D4C3-7A3D-7FAD-CDB7-72F5BA2BD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42C51-979D-A43A-66BA-24C391A8D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B6E9D-8C56-4134-A0F8-3EC67D0E9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308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8A86D-969C-F296-DF14-E520C6516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3F2B4F-69CB-8611-3F41-6EA7F0A9B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072EF-8ABF-9120-A839-6003550A6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720BB-4A62-48ED-B9E2-64B608237BD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47F6A-EE62-553E-29F2-0E23DA4D4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8FA0C-0202-8A87-3082-45A8C2F0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B6E9D-8C56-4134-A0F8-3EC67D0E9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684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5CBEB-3278-45A4-EFC6-2BDC0D888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E903D-8FA1-63FB-6778-D32CCD6C25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B944BA-7EB2-910A-7BDE-C67C183EED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30DAF2-1966-5378-D425-DF1BCF77E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720BB-4A62-48ED-B9E2-64B608237BD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E9B750-4FCA-59D0-AFE5-669C1B9FC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CA6195-564D-F728-B7EF-425900521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B6E9D-8C56-4134-A0F8-3EC67D0E9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317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8F1E1-DCD6-FAD6-F1F4-B5AEE3DCF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83E00-CB33-653D-C8C0-667D8A33B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9B23DF-4D5B-A4FC-D9AC-9FEE4E27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843F50-B741-4F32-91D0-246D07CE38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C9A875-B716-3B93-4DFC-867385C3FD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B906A3-B870-E0E8-E313-BE7A9DBF1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720BB-4A62-48ED-B9E2-64B608237BD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7F7382-0793-91BD-8D92-616705A5D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DDA745-1A21-6A66-1461-D401E688C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B6E9D-8C56-4134-A0F8-3EC67D0E9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452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8C64A-DC05-1F37-81B4-BC4BBFF62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D2EC1C-8C47-16D5-4529-9A9D5B66A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720BB-4A62-48ED-B9E2-64B608237BD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2007AB-4DB8-C13E-40B7-CD805DF06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C696B9-742C-7C9E-2560-1CC9E64AF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B6E9D-8C56-4134-A0F8-3EC67D0E9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460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C60743-0732-A6CE-1018-FFA62F6B9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720BB-4A62-48ED-B9E2-64B608237BD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5B0C9D-DE8F-7A06-E052-AE0E25A62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D88AC-056A-6201-5D10-8236549D3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B6E9D-8C56-4134-A0F8-3EC67D0E9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569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3CFF5-9CD5-D912-BC24-809BB3C04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79243-6563-AFD6-6B04-DE2D7F15E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0BA605-75BF-A5A9-87ED-D4D8CB03F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1329AA-760B-8B57-9219-E8BD90D49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720BB-4A62-48ED-B9E2-64B608237BD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BA082-D048-E49A-B8C0-F5995879A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DF6B0D-B05E-B448-E551-1CCD01FBC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B6E9D-8C56-4134-A0F8-3EC67D0E9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624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0F331-1613-7D7B-6B25-463B97A0E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C57C41-C218-29A2-A29D-24C1CE8475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3875B1-2EB1-C23C-AB27-1C1CF2CB3C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883836-BFF7-529E-D1CD-59EF3E81A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720BB-4A62-48ED-B9E2-64B608237BD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74511-324D-0741-70A6-CDBDF6B54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DDB8E5-8A9A-CE41-9945-7E240B52D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B6E9D-8C56-4134-A0F8-3EC67D0E9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668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AFCA3-BDD8-47A5-9E3A-1A807AA55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A27B13-D9D4-C115-9880-E61C434D61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43C4A-0114-13AD-D6EA-296DECC8C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720BB-4A62-48ED-B9E2-64B608237BD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2A952-003D-CF97-A2AE-36D2F1029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FD473-09A4-786D-733D-7C92D14B8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B6E9D-8C56-4134-A0F8-3EC67D0E9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085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FB14CD-7F0B-3642-0B5B-8EF1A6F46E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7A5D55-EDFB-B5B0-80D3-CE7D0AE94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7D618-1B19-94C9-E819-1EB47A535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720BB-4A62-48ED-B9E2-64B608237BD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FF11B-48EB-BA10-8AD7-068A65583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D6D1A-9E06-ADD0-7868-D12A77A87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B6E9D-8C56-4134-A0F8-3EC67D0E9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8251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673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B76B8C-53D1-3D40-4B75-799A707A6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08D51F-93D8-DB74-9F42-954F09642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436DC-1BA1-3557-6C8F-20119FDA37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C720BB-4A62-48ED-B9E2-64B608237BD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BA076-DF8D-5381-1A4C-6550159A28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CD1F6-CAE6-C088-7D28-B49FE45D8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AB6E9D-8C56-4134-A0F8-3EC67D0E9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5977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3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3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3" Type="http://schemas.openxmlformats.org/officeDocument/2006/relationships/image" Target="../media/image3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27F0CB-3372-D177-E5B5-FB89B56AA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04" y="138517"/>
            <a:ext cx="1440167" cy="13426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96DEAFC-C652-7FC4-C1FF-A1278F2460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6"/>
          <a:stretch>
            <a:fillRect/>
          </a:stretch>
        </p:blipFill>
        <p:spPr>
          <a:xfrm>
            <a:off x="10451647" y="138517"/>
            <a:ext cx="1525826" cy="13426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64D6BF-E3EF-56FE-C6B5-5BBA01FC958F}"/>
              </a:ext>
            </a:extLst>
          </p:cNvPr>
          <p:cNvSpPr txBox="1"/>
          <p:nvPr/>
        </p:nvSpPr>
        <p:spPr>
          <a:xfrm>
            <a:off x="3470025" y="2505910"/>
            <a:ext cx="6094413" cy="369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799" b="1" dirty="0">
                <a:solidFill>
                  <a:srgbClr val="111827"/>
                </a:solidFill>
                <a:highlight>
                  <a:srgbClr val="E9E9E9"/>
                </a:highlight>
                <a:latin typeface="Batang"/>
                <a:ea typeface="Batang"/>
              </a:rPr>
              <a:t>MLA0301 - REINFORCEMENT LEARNING</a:t>
            </a:r>
            <a:endParaRPr lang="en-US" sz="1799" dirty="0">
              <a:latin typeface="Batang"/>
              <a:ea typeface="Batang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3267B5-402C-503B-7FC4-9E943B420072}"/>
              </a:ext>
            </a:extLst>
          </p:cNvPr>
          <p:cNvSpPr txBox="1"/>
          <p:nvPr/>
        </p:nvSpPr>
        <p:spPr>
          <a:xfrm>
            <a:off x="2089820" y="3317944"/>
            <a:ext cx="7644903" cy="108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20007"/>
              </a:lnSpc>
            </a:pPr>
            <a:r>
              <a:rPr lang="en-US" sz="2799" b="1" i="0" u="none" strike="noStrike" cap="none" dirty="0">
                <a:latin typeface="Batang"/>
                <a:ea typeface="Batang"/>
                <a:cs typeface="Batang"/>
                <a:sym typeface="Batang"/>
              </a:rPr>
              <a:t>Actor-Critic Methods for Real-Time Systems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7E66E0-7CCB-894C-F1CF-8E0624AA4E30}"/>
              </a:ext>
            </a:extLst>
          </p:cNvPr>
          <p:cNvSpPr txBox="1"/>
          <p:nvPr/>
        </p:nvSpPr>
        <p:spPr>
          <a:xfrm>
            <a:off x="1059148" y="5065552"/>
            <a:ext cx="6094413" cy="872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lnSpc>
                <a:spcPct val="150000"/>
              </a:lnSpc>
              <a:buNone/>
            </a:pPr>
            <a:r>
              <a:rPr lang="en-US" sz="1799" dirty="0">
                <a:solidFill>
                  <a:srgbClr val="414B5A"/>
                </a:solidFill>
                <a:latin typeface="Times New Roman" panose="02020603050405020304" pitchFamily="18" charset="0"/>
              </a:rPr>
              <a:t>Guided by: </a:t>
            </a:r>
            <a:r>
              <a:rPr lang="en-US" sz="1799" dirty="0">
                <a:solidFill>
                  <a:srgbClr val="000000"/>
                </a:solidFill>
                <a:latin typeface="Times New Roman" panose="02020603050405020304" pitchFamily="18" charset="0"/>
              </a:rPr>
              <a:t>​</a:t>
            </a:r>
            <a:endParaRPr lang="en-US" sz="1799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>
              <a:lnSpc>
                <a:spcPct val="150000"/>
              </a:lnSpc>
              <a:buNone/>
            </a:pPr>
            <a:r>
              <a:rPr lang="en-US" sz="1799" dirty="0">
                <a:solidFill>
                  <a:srgbClr val="414B5A"/>
                </a:solidFill>
                <a:latin typeface="Times New Roman" panose="02020603050405020304" pitchFamily="18" charset="0"/>
              </a:rPr>
              <a:t>Dr. Senthil G A</a:t>
            </a:r>
            <a:r>
              <a:rPr lang="en-US" sz="1799" dirty="0">
                <a:solidFill>
                  <a:srgbClr val="000000"/>
                </a:solidFill>
                <a:latin typeface="Times New Roman" panose="02020603050405020304" pitchFamily="18" charset="0"/>
              </a:rPr>
              <a:t>​</a:t>
            </a:r>
            <a:endParaRPr lang="en-US" sz="1799" dirty="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40FCE4-ADF6-40D8-18A1-F5185BC53628}"/>
              </a:ext>
            </a:extLst>
          </p:cNvPr>
          <p:cNvSpPr txBox="1"/>
          <p:nvPr/>
        </p:nvSpPr>
        <p:spPr>
          <a:xfrm>
            <a:off x="8011776" y="4917808"/>
            <a:ext cx="6094413" cy="872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lnSpc>
                <a:spcPct val="150000"/>
              </a:lnSpc>
              <a:buNone/>
            </a:pPr>
            <a:r>
              <a:rPr lang="en-US" sz="1799" dirty="0">
                <a:solidFill>
                  <a:srgbClr val="414B5A"/>
                </a:solidFill>
                <a:latin typeface="Times New Roman" panose="02020603050405020304" pitchFamily="18" charset="0"/>
              </a:rPr>
              <a:t>Presented by: </a:t>
            </a:r>
            <a:r>
              <a:rPr lang="en-US" sz="1799" dirty="0">
                <a:solidFill>
                  <a:srgbClr val="000000"/>
                </a:solidFill>
                <a:latin typeface="Times New Roman" panose="02020603050405020304" pitchFamily="18" charset="0"/>
              </a:rPr>
              <a:t>​</a:t>
            </a:r>
            <a:endParaRPr lang="en-US" sz="1799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>
              <a:lnSpc>
                <a:spcPct val="150000"/>
              </a:lnSpc>
              <a:buNone/>
            </a:pPr>
            <a:r>
              <a:rPr lang="en-US" sz="1799" dirty="0">
                <a:solidFill>
                  <a:srgbClr val="414B5A"/>
                </a:solidFill>
                <a:latin typeface="Times New Roman" panose="02020603050405020304" pitchFamily="18" charset="0"/>
              </a:rPr>
              <a:t>S. Sirivally (192472371)</a:t>
            </a:r>
            <a:r>
              <a:rPr lang="en-US" sz="1799" dirty="0">
                <a:solidFill>
                  <a:srgbClr val="000000"/>
                </a:solidFill>
                <a:latin typeface="Times New Roman" panose="02020603050405020304" pitchFamily="18" charset="0"/>
              </a:rPr>
              <a:t>​</a:t>
            </a:r>
            <a:endParaRPr lang="en-US" sz="1799" dirty="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97AC93-35A1-BF7B-B063-9B87F064EE2E}"/>
              </a:ext>
            </a:extLst>
          </p:cNvPr>
          <p:cNvSpPr txBox="1"/>
          <p:nvPr/>
        </p:nvSpPr>
        <p:spPr>
          <a:xfrm>
            <a:off x="2569309" y="405379"/>
            <a:ext cx="7053385" cy="1089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696" algn="ctr">
              <a:spcBef>
                <a:spcPts val="100"/>
              </a:spcBef>
            </a:pPr>
            <a:r>
              <a:rPr lang="en-IN" sz="2799" spc="-25" dirty="0">
                <a:latin typeface="Times New Roman"/>
                <a:cs typeface="Times New Roman"/>
              </a:rPr>
              <a:t>SIMATS</a:t>
            </a:r>
            <a:r>
              <a:rPr lang="en-IN" sz="2799" spc="-125" dirty="0">
                <a:latin typeface="Times New Roman"/>
                <a:cs typeface="Times New Roman"/>
              </a:rPr>
              <a:t>  </a:t>
            </a:r>
            <a:r>
              <a:rPr lang="en-IN" sz="2799" spc="-10" dirty="0">
                <a:latin typeface="Times New Roman"/>
                <a:cs typeface="Times New Roman"/>
              </a:rPr>
              <a:t>ENGINEERING</a:t>
            </a:r>
          </a:p>
          <a:p>
            <a:pPr marL="12696" algn="ctr">
              <a:spcBef>
                <a:spcPts val="100"/>
              </a:spcBef>
            </a:pPr>
            <a:r>
              <a:rPr lang="en-US" sz="1799" b="1" spc="-55" dirty="0">
                <a:latin typeface="Times New Roman"/>
                <a:cs typeface="Times New Roman"/>
              </a:rPr>
              <a:t>SAVEETHA</a:t>
            </a:r>
            <a:r>
              <a:rPr lang="en-US" sz="1799" b="1" spc="-110" dirty="0">
                <a:latin typeface="Times New Roman"/>
                <a:cs typeface="Times New Roman"/>
              </a:rPr>
              <a:t> </a:t>
            </a:r>
            <a:r>
              <a:rPr lang="en-US" sz="1799" b="1" spc="-10" dirty="0">
                <a:latin typeface="Times New Roman"/>
                <a:cs typeface="Times New Roman"/>
              </a:rPr>
              <a:t>INSTITUTE</a:t>
            </a:r>
            <a:r>
              <a:rPr lang="en-US" sz="1799" b="1" dirty="0">
                <a:latin typeface="Times New Roman"/>
                <a:cs typeface="Times New Roman"/>
              </a:rPr>
              <a:t> OF</a:t>
            </a:r>
            <a:r>
              <a:rPr lang="en-US" sz="1799" b="1" spc="-75" dirty="0">
                <a:latin typeface="Times New Roman"/>
                <a:cs typeface="Times New Roman"/>
              </a:rPr>
              <a:t> </a:t>
            </a:r>
            <a:r>
              <a:rPr lang="en-US" sz="1799" b="1" spc="-25" dirty="0">
                <a:latin typeface="Times New Roman"/>
                <a:cs typeface="Times New Roman"/>
              </a:rPr>
              <a:t>MEDICAL </a:t>
            </a:r>
            <a:r>
              <a:rPr lang="en-US" sz="1799" b="1" spc="-220" dirty="0">
                <a:latin typeface="Times New Roman"/>
                <a:cs typeface="Times New Roman"/>
              </a:rPr>
              <a:t> </a:t>
            </a:r>
            <a:r>
              <a:rPr lang="en-US" sz="1799" b="1" spc="-25" dirty="0">
                <a:latin typeface="Times New Roman"/>
                <a:cs typeface="Times New Roman"/>
              </a:rPr>
              <a:t>AND TECHNICAL</a:t>
            </a:r>
            <a:r>
              <a:rPr lang="en-US" sz="1799" b="1" spc="-55" dirty="0">
                <a:latin typeface="Times New Roman"/>
                <a:cs typeface="Times New Roman"/>
              </a:rPr>
              <a:t> </a:t>
            </a:r>
            <a:r>
              <a:rPr lang="en-US" sz="1799" b="1" spc="-10" dirty="0">
                <a:latin typeface="Times New Roman"/>
                <a:cs typeface="Times New Roman"/>
              </a:rPr>
              <a:t>SCIENCES</a:t>
            </a:r>
          </a:p>
        </p:txBody>
      </p:sp>
    </p:spTree>
    <p:extLst>
      <p:ext uri="{BB962C8B-B14F-4D97-AF65-F5344CB8AC3E}">
        <p14:creationId xmlns:p14="http://schemas.microsoft.com/office/powerpoint/2010/main" val="1172705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093291"/>
            <a:ext cx="5476875" cy="4844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093291"/>
            <a:ext cx="5476875" cy="4844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" y="3694658"/>
            <a:ext cx="5076825" cy="816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00453" y="1866155"/>
            <a:ext cx="3553717" cy="551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200453" y="2925216"/>
            <a:ext cx="3553717" cy="551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00453" y="3984277"/>
            <a:ext cx="3553717" cy="551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200453" y="5043338"/>
            <a:ext cx="3553717" cy="551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76275" y="1302841"/>
            <a:ext cx="2283618" cy="32518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9"/>
          <p:cNvSpPr txBox="1"/>
          <p:nvPr/>
        </p:nvSpPr>
        <p:spPr>
          <a:xfrm>
            <a:off x="676275" y="1723280"/>
            <a:ext cx="507682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Actor-Critic combines the strengths of two paradigms:</a:t>
            </a:r>
            <a:endParaRPr/>
          </a:p>
        </p:txBody>
      </p:sp>
      <p:pic>
        <p:nvPicPr>
          <p:cNvPr id="290" name="Google Shape;290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828210" y="1302841"/>
            <a:ext cx="2298055" cy="325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9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37880" y="1369516"/>
            <a:ext cx="180975" cy="17784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9"/>
          <p:cNvSpPr txBox="1"/>
          <p:nvPr/>
        </p:nvSpPr>
        <p:spPr>
          <a:xfrm>
            <a:off x="904875" y="2157561"/>
            <a:ext cx="484822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Policy-Based Learning: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Directly optimizes action probabilities (Actor).</a:t>
            </a:r>
            <a:endParaRPr/>
          </a:p>
        </p:txBody>
      </p:sp>
      <p:sp>
        <p:nvSpPr>
          <p:cNvPr id="293" name="Google Shape;293;p19"/>
          <p:cNvSpPr txBox="1"/>
          <p:nvPr/>
        </p:nvSpPr>
        <p:spPr>
          <a:xfrm>
            <a:off x="904875" y="2911822"/>
            <a:ext cx="484822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Value-Based Learning: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Evaluates state value expectations (Critic).</a:t>
            </a:r>
            <a:endParaRPr/>
          </a:p>
        </p:txBody>
      </p:sp>
      <p:sp>
        <p:nvSpPr>
          <p:cNvPr id="294" name="Google Shape;294;p19"/>
          <p:cNvSpPr txBox="1"/>
          <p:nvPr/>
        </p:nvSpPr>
        <p:spPr>
          <a:xfrm>
            <a:off x="800100" y="3818483"/>
            <a:ext cx="4829175" cy="28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9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Actor:</a:t>
            </a:r>
            <a:r>
              <a:rPr lang="en-US" sz="1599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Selects actions based on current policy π(a|s).</a:t>
            </a:r>
            <a:endParaRPr/>
          </a:p>
        </p:txBody>
      </p:sp>
      <p:sp>
        <p:nvSpPr>
          <p:cNvPr id="295" name="Google Shape;295;p19"/>
          <p:cNvSpPr txBox="1"/>
          <p:nvPr/>
        </p:nvSpPr>
        <p:spPr>
          <a:xfrm>
            <a:off x="800100" y="4102893"/>
            <a:ext cx="4829175" cy="28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9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Critic:</a:t>
            </a:r>
            <a:r>
              <a:rPr lang="en-US" sz="1599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Evaluates the quality of state V(s) / action taken.</a:t>
            </a:r>
            <a:endParaRPr/>
          </a:p>
        </p:txBody>
      </p:sp>
      <p:pic>
        <p:nvPicPr>
          <p:cNvPr id="296" name="Google Shape;296;p19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737722" y="1376510"/>
            <a:ext cx="180975" cy="177849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9"/>
          <p:cNvSpPr txBox="1"/>
          <p:nvPr/>
        </p:nvSpPr>
        <p:spPr>
          <a:xfrm>
            <a:off x="8913762" y="2493466"/>
            <a:ext cx="126950" cy="35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  <a:endParaRPr/>
          </a:p>
        </p:txBody>
      </p:sp>
      <p:sp>
        <p:nvSpPr>
          <p:cNvPr id="298" name="Google Shape;298;p19"/>
          <p:cNvSpPr txBox="1"/>
          <p:nvPr/>
        </p:nvSpPr>
        <p:spPr>
          <a:xfrm>
            <a:off x="8913762" y="3552527"/>
            <a:ext cx="126950" cy="35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  <a:endParaRPr/>
          </a:p>
        </p:txBody>
      </p:sp>
      <p:sp>
        <p:nvSpPr>
          <p:cNvPr id="299" name="Google Shape;299;p19"/>
          <p:cNvSpPr txBox="1"/>
          <p:nvPr/>
        </p:nvSpPr>
        <p:spPr>
          <a:xfrm>
            <a:off x="8913762" y="4611588"/>
            <a:ext cx="126950" cy="35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  <a:endParaRPr/>
          </a:p>
        </p:txBody>
      </p:sp>
      <p:sp>
        <p:nvSpPr>
          <p:cNvPr id="300" name="Google Shape;300;p19"/>
          <p:cNvSpPr txBox="1"/>
          <p:nvPr/>
        </p:nvSpPr>
        <p:spPr>
          <a:xfrm>
            <a:off x="676275" y="2157561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sp>
        <p:nvSpPr>
          <p:cNvPr id="301" name="Google Shape;301;p19"/>
          <p:cNvSpPr txBox="1"/>
          <p:nvPr/>
        </p:nvSpPr>
        <p:spPr>
          <a:xfrm>
            <a:off x="676275" y="2911822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sp>
        <p:nvSpPr>
          <p:cNvPr id="302" name="Google Shape;302;p19"/>
          <p:cNvSpPr txBox="1"/>
          <p:nvPr/>
        </p:nvSpPr>
        <p:spPr>
          <a:xfrm>
            <a:off x="476250" y="351623"/>
            <a:ext cx="11715750" cy="516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1" i="0" u="none" strike="noStrike" cap="none" dirty="0">
                <a:solidFill>
                  <a:srgbClr val="1E3A8A"/>
                </a:solidFill>
                <a:latin typeface="Batang"/>
                <a:ea typeface="Batang"/>
                <a:cs typeface="Batang"/>
                <a:sym typeface="Batang"/>
              </a:rPr>
              <a:t>Actor-Critic Methods for Real-Time Systems</a:t>
            </a:r>
            <a:endParaRPr dirty="0"/>
          </a:p>
        </p:txBody>
      </p:sp>
      <p:sp>
        <p:nvSpPr>
          <p:cNvPr id="303" name="Google Shape;303;p19"/>
          <p:cNvSpPr/>
          <p:nvPr/>
        </p:nvSpPr>
        <p:spPr>
          <a:xfrm>
            <a:off x="476250" y="883741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5679" y="5542209"/>
            <a:ext cx="11239500" cy="934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1" y="1093291"/>
            <a:ext cx="5476875" cy="3092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1093291"/>
            <a:ext cx="5476875" cy="3092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6275" y="5808910"/>
            <a:ext cx="1143000" cy="401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58925" y="5808910"/>
            <a:ext cx="1143000" cy="401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41576" y="5808910"/>
            <a:ext cx="1143000" cy="401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24227" y="5808910"/>
            <a:ext cx="1143000" cy="401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406878" y="5808910"/>
            <a:ext cx="1143000" cy="401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089528" y="5808910"/>
            <a:ext cx="1143000" cy="401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0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772179" y="5808910"/>
            <a:ext cx="1143000" cy="401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0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76275" y="1302841"/>
            <a:ext cx="2163960" cy="325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0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438900" y="1302841"/>
            <a:ext cx="2141190" cy="325189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0"/>
          <p:cNvSpPr txBox="1"/>
          <p:nvPr/>
        </p:nvSpPr>
        <p:spPr>
          <a:xfrm>
            <a:off x="1962150" y="5831830"/>
            <a:ext cx="253900" cy="35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endParaRPr/>
          </a:p>
        </p:txBody>
      </p:sp>
      <p:sp>
        <p:nvSpPr>
          <p:cNvPr id="322" name="Google Shape;322;p20"/>
          <p:cNvSpPr txBox="1"/>
          <p:nvPr/>
        </p:nvSpPr>
        <p:spPr>
          <a:xfrm>
            <a:off x="3644800" y="5831830"/>
            <a:ext cx="253900" cy="35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endParaRPr/>
          </a:p>
        </p:txBody>
      </p:sp>
      <p:sp>
        <p:nvSpPr>
          <p:cNvPr id="323" name="Google Shape;323;p20"/>
          <p:cNvSpPr txBox="1"/>
          <p:nvPr/>
        </p:nvSpPr>
        <p:spPr>
          <a:xfrm>
            <a:off x="5327451" y="5831830"/>
            <a:ext cx="253900" cy="35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endParaRPr/>
          </a:p>
        </p:txBody>
      </p:sp>
      <p:sp>
        <p:nvSpPr>
          <p:cNvPr id="324" name="Google Shape;324;p20"/>
          <p:cNvSpPr txBox="1"/>
          <p:nvPr/>
        </p:nvSpPr>
        <p:spPr>
          <a:xfrm>
            <a:off x="7010102" y="5831830"/>
            <a:ext cx="253900" cy="35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endParaRPr/>
          </a:p>
        </p:txBody>
      </p:sp>
      <p:sp>
        <p:nvSpPr>
          <p:cNvPr id="325" name="Google Shape;325;p20"/>
          <p:cNvSpPr txBox="1"/>
          <p:nvPr/>
        </p:nvSpPr>
        <p:spPr>
          <a:xfrm>
            <a:off x="8692753" y="5831830"/>
            <a:ext cx="253900" cy="35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endParaRPr/>
          </a:p>
        </p:txBody>
      </p:sp>
      <p:sp>
        <p:nvSpPr>
          <p:cNvPr id="326" name="Google Shape;326;p20"/>
          <p:cNvSpPr txBox="1"/>
          <p:nvPr/>
        </p:nvSpPr>
        <p:spPr>
          <a:xfrm>
            <a:off x="10375403" y="5831830"/>
            <a:ext cx="253900" cy="35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endParaRPr/>
          </a:p>
        </p:txBody>
      </p:sp>
      <p:pic>
        <p:nvPicPr>
          <p:cNvPr id="327" name="Google Shape;327;p20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47896" y="1369516"/>
            <a:ext cx="219075" cy="177849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0"/>
          <p:cNvSpPr txBox="1"/>
          <p:nvPr/>
        </p:nvSpPr>
        <p:spPr>
          <a:xfrm>
            <a:off x="904875" y="1723280"/>
            <a:ext cx="484822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Policy Parameterization: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Represents policy π_θ(a|s).</a:t>
            </a:r>
            <a:endParaRPr/>
          </a:p>
        </p:txBody>
      </p:sp>
      <p:sp>
        <p:nvSpPr>
          <p:cNvPr id="329" name="Google Shape;329;p20"/>
          <p:cNvSpPr txBox="1"/>
          <p:nvPr/>
        </p:nvSpPr>
        <p:spPr>
          <a:xfrm>
            <a:off x="904875" y="2477541"/>
            <a:ext cx="484822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 Selection: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Selects actions in continuous or discrete domains.</a:t>
            </a:r>
            <a:endParaRPr/>
          </a:p>
        </p:txBody>
      </p:sp>
      <p:sp>
        <p:nvSpPr>
          <p:cNvPr id="330" name="Google Shape;330;p20"/>
          <p:cNvSpPr txBox="1"/>
          <p:nvPr/>
        </p:nvSpPr>
        <p:spPr>
          <a:xfrm>
            <a:off x="904875" y="3231802"/>
            <a:ext cx="484822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Optimization: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Updated in direction suggested by Critic feedback.</a:t>
            </a:r>
            <a:endParaRPr/>
          </a:p>
        </p:txBody>
      </p:sp>
      <p:pic>
        <p:nvPicPr>
          <p:cNvPr id="331" name="Google Shape;331;p20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376987" y="1353722"/>
            <a:ext cx="219075" cy="17784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0"/>
          <p:cNvSpPr txBox="1"/>
          <p:nvPr/>
        </p:nvSpPr>
        <p:spPr>
          <a:xfrm>
            <a:off x="6667500" y="1723280"/>
            <a:ext cx="484822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 Function: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Estimates value function V_w(s) or Q_w(s,a).</a:t>
            </a:r>
            <a:endParaRPr/>
          </a:p>
        </p:txBody>
      </p:sp>
      <p:sp>
        <p:nvSpPr>
          <p:cNvPr id="333" name="Google Shape;333;p20"/>
          <p:cNvSpPr txBox="1"/>
          <p:nvPr/>
        </p:nvSpPr>
        <p:spPr>
          <a:xfrm>
            <a:off x="6667500" y="2477541"/>
            <a:ext cx="484822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Assesses quality of Actor's decisions.</a:t>
            </a:r>
            <a:endParaRPr/>
          </a:p>
        </p:txBody>
      </p:sp>
      <p:sp>
        <p:nvSpPr>
          <p:cNvPr id="334" name="Google Shape;334;p20"/>
          <p:cNvSpPr txBox="1"/>
          <p:nvPr/>
        </p:nvSpPr>
        <p:spPr>
          <a:xfrm>
            <a:off x="6667500" y="2911822"/>
            <a:ext cx="484822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Feedback Generation: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Provides baseline signal for updates.</a:t>
            </a:r>
            <a:endParaRPr/>
          </a:p>
        </p:txBody>
      </p:sp>
      <p:sp>
        <p:nvSpPr>
          <p:cNvPr id="335" name="Google Shape;335;p20"/>
          <p:cNvSpPr txBox="1"/>
          <p:nvPr/>
        </p:nvSpPr>
        <p:spPr>
          <a:xfrm>
            <a:off x="676275" y="1723280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sp>
        <p:nvSpPr>
          <p:cNvPr id="336" name="Google Shape;336;p20"/>
          <p:cNvSpPr txBox="1"/>
          <p:nvPr/>
        </p:nvSpPr>
        <p:spPr>
          <a:xfrm>
            <a:off x="676275" y="2477541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sp>
        <p:nvSpPr>
          <p:cNvPr id="337" name="Google Shape;337;p20"/>
          <p:cNvSpPr txBox="1"/>
          <p:nvPr/>
        </p:nvSpPr>
        <p:spPr>
          <a:xfrm>
            <a:off x="676275" y="3231802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sp>
        <p:nvSpPr>
          <p:cNvPr id="338" name="Google Shape;338;p20"/>
          <p:cNvSpPr txBox="1"/>
          <p:nvPr/>
        </p:nvSpPr>
        <p:spPr>
          <a:xfrm>
            <a:off x="6438900" y="1723280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sp>
        <p:nvSpPr>
          <p:cNvPr id="339" name="Google Shape;339;p20"/>
          <p:cNvSpPr txBox="1"/>
          <p:nvPr/>
        </p:nvSpPr>
        <p:spPr>
          <a:xfrm>
            <a:off x="6438900" y="2477541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sp>
        <p:nvSpPr>
          <p:cNvPr id="340" name="Google Shape;340;p20"/>
          <p:cNvSpPr txBox="1"/>
          <p:nvPr/>
        </p:nvSpPr>
        <p:spPr>
          <a:xfrm>
            <a:off x="6438900" y="2911822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sp>
        <p:nvSpPr>
          <p:cNvPr id="341" name="Google Shape;341;p20"/>
          <p:cNvSpPr txBox="1"/>
          <p:nvPr/>
        </p:nvSpPr>
        <p:spPr>
          <a:xfrm>
            <a:off x="476250" y="381000"/>
            <a:ext cx="11715750" cy="516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1" i="0" u="none" strike="noStrike" cap="none" dirty="0">
                <a:solidFill>
                  <a:srgbClr val="1E3A8A"/>
                </a:solidFill>
                <a:latin typeface="Batang"/>
                <a:ea typeface="Batang"/>
                <a:cs typeface="Batang"/>
                <a:sym typeface="Batang"/>
              </a:rPr>
              <a:t>Actor &amp; Critic Dual-Architecture</a:t>
            </a:r>
            <a:endParaRPr dirty="0"/>
          </a:p>
        </p:txBody>
      </p:sp>
      <p:sp>
        <p:nvSpPr>
          <p:cNvPr id="342" name="Google Shape;342;p20"/>
          <p:cNvSpPr/>
          <p:nvPr/>
        </p:nvSpPr>
        <p:spPr>
          <a:xfrm>
            <a:off x="476250" y="883741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093291"/>
            <a:ext cx="6024562" cy="4575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86562" y="1093291"/>
            <a:ext cx="4929187" cy="4575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" y="2327820"/>
            <a:ext cx="363274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552729" y="1866155"/>
            <a:ext cx="3396853" cy="401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552729" y="2630834"/>
            <a:ext cx="3396853" cy="401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552729" y="3395513"/>
            <a:ext cx="3396853" cy="401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552729" y="4160192"/>
            <a:ext cx="3396853" cy="401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552729" y="4924871"/>
            <a:ext cx="3396853" cy="401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76275" y="1302841"/>
            <a:ext cx="1941760" cy="325189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1"/>
          <p:cNvSpPr txBox="1"/>
          <p:nvPr/>
        </p:nvSpPr>
        <p:spPr>
          <a:xfrm>
            <a:off x="676275" y="1723280"/>
            <a:ext cx="5624512" cy="604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 measures how much better an action performed compared to the expected baseline value of that state.</a:t>
            </a:r>
            <a:endParaRPr/>
          </a:p>
        </p:txBody>
      </p:sp>
      <p:pic>
        <p:nvPicPr>
          <p:cNvPr id="358" name="Google Shape;358;p21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518475" y="1302841"/>
            <a:ext cx="1465361" cy="325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1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47700" y="1386823"/>
            <a:ext cx="133350" cy="177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1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81050" y="2470695"/>
            <a:ext cx="342319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1"/>
          <p:cNvSpPr txBox="1"/>
          <p:nvPr/>
        </p:nvSpPr>
        <p:spPr>
          <a:xfrm>
            <a:off x="676275" y="2854821"/>
            <a:ext cx="5624512" cy="568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9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Positive Advantage (A &gt; 0):</a:t>
            </a:r>
            <a:r>
              <a:rPr lang="en-US" sz="1599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Action exceeded expectations → Encourage action probability.</a:t>
            </a:r>
            <a:endParaRPr/>
          </a:p>
        </p:txBody>
      </p:sp>
      <p:sp>
        <p:nvSpPr>
          <p:cNvPr id="362" name="Google Shape;362;p21"/>
          <p:cNvSpPr txBox="1"/>
          <p:nvPr/>
        </p:nvSpPr>
        <p:spPr>
          <a:xfrm>
            <a:off x="676275" y="3471267"/>
            <a:ext cx="5624512" cy="568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9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Negative Advantage (A &lt; 0):</a:t>
            </a:r>
            <a:r>
              <a:rPr lang="en-US" sz="1599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Action underperformed → Reduce action probability.</a:t>
            </a:r>
            <a:endParaRPr/>
          </a:p>
        </p:txBody>
      </p:sp>
      <p:pic>
        <p:nvPicPr>
          <p:cNvPr id="363" name="Google Shape;363;p21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518475" y="1376510"/>
            <a:ext cx="200025" cy="177849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1"/>
          <p:cNvSpPr txBox="1"/>
          <p:nvPr/>
        </p:nvSpPr>
        <p:spPr>
          <a:xfrm>
            <a:off x="9206656" y="2324695"/>
            <a:ext cx="88850" cy="248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  <a:endParaRPr/>
          </a:p>
        </p:txBody>
      </p:sp>
      <p:sp>
        <p:nvSpPr>
          <p:cNvPr id="365" name="Google Shape;365;p21"/>
          <p:cNvSpPr txBox="1"/>
          <p:nvPr/>
        </p:nvSpPr>
        <p:spPr>
          <a:xfrm>
            <a:off x="9206656" y="3089374"/>
            <a:ext cx="88850" cy="248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  <a:endParaRPr/>
          </a:p>
        </p:txBody>
      </p:sp>
      <p:sp>
        <p:nvSpPr>
          <p:cNvPr id="366" name="Google Shape;366;p21"/>
          <p:cNvSpPr txBox="1"/>
          <p:nvPr/>
        </p:nvSpPr>
        <p:spPr>
          <a:xfrm>
            <a:off x="9206656" y="3854053"/>
            <a:ext cx="88850" cy="248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  <a:endParaRPr/>
          </a:p>
        </p:txBody>
      </p:sp>
      <p:sp>
        <p:nvSpPr>
          <p:cNvPr id="367" name="Google Shape;367;p21"/>
          <p:cNvSpPr txBox="1"/>
          <p:nvPr/>
        </p:nvSpPr>
        <p:spPr>
          <a:xfrm>
            <a:off x="9206656" y="4618732"/>
            <a:ext cx="88850" cy="248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  <a:endParaRPr/>
          </a:p>
        </p:txBody>
      </p:sp>
      <p:sp>
        <p:nvSpPr>
          <p:cNvPr id="368" name="Google Shape;368;p21"/>
          <p:cNvSpPr txBox="1"/>
          <p:nvPr/>
        </p:nvSpPr>
        <p:spPr>
          <a:xfrm>
            <a:off x="476250" y="381000"/>
            <a:ext cx="11715750" cy="516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1" i="0" u="none" strike="noStrike" cap="none" dirty="0">
                <a:solidFill>
                  <a:srgbClr val="1E3A8A"/>
                </a:solidFill>
                <a:latin typeface="Batang"/>
                <a:ea typeface="Batang"/>
                <a:cs typeface="Batang"/>
                <a:sym typeface="Batang"/>
              </a:rPr>
              <a:t>Advantage Actor-Critic (A2C)</a:t>
            </a:r>
            <a:endParaRPr dirty="0"/>
          </a:p>
        </p:txBody>
      </p:sp>
      <p:sp>
        <p:nvSpPr>
          <p:cNvPr id="369" name="Google Shape;369;p21"/>
          <p:cNvSpPr/>
          <p:nvPr/>
        </p:nvSpPr>
        <p:spPr>
          <a:xfrm>
            <a:off x="476250" y="883741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093291"/>
            <a:ext cx="11239500" cy="2405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67250" y="1245691"/>
            <a:ext cx="2857500" cy="551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4138463"/>
            <a:ext cx="5476875" cy="2338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38875" y="4138463"/>
            <a:ext cx="5476875" cy="2338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8650" y="1939676"/>
            <a:ext cx="3549699" cy="956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321224" y="1939676"/>
            <a:ext cx="3549699" cy="956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2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013799" y="1939676"/>
            <a:ext cx="3549699" cy="956071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2"/>
          <p:cNvSpPr txBox="1"/>
          <p:nvPr/>
        </p:nvSpPr>
        <p:spPr>
          <a:xfrm>
            <a:off x="628650" y="2990998"/>
            <a:ext cx="10934700" cy="35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↑ Async Gradient Updates ↑</a:t>
            </a:r>
            <a:endParaRPr/>
          </a:p>
        </p:txBody>
      </p:sp>
      <p:pic>
        <p:nvPicPr>
          <p:cNvPr id="383" name="Google Shape;383;p22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794879" y="1416769"/>
            <a:ext cx="257175" cy="20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22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76275" y="4348013"/>
            <a:ext cx="2430363" cy="325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22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38900" y="4348013"/>
            <a:ext cx="2617142" cy="325189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22"/>
          <p:cNvSpPr txBox="1"/>
          <p:nvPr/>
        </p:nvSpPr>
        <p:spPr>
          <a:xfrm>
            <a:off x="733425" y="2044451"/>
            <a:ext cx="3340149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766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Worker 1</a:t>
            </a:r>
            <a:endParaRPr/>
          </a:p>
        </p:txBody>
      </p:sp>
      <p:sp>
        <p:nvSpPr>
          <p:cNvPr id="387" name="Google Shape;387;p22"/>
          <p:cNvSpPr txBox="1"/>
          <p:nvPr/>
        </p:nvSpPr>
        <p:spPr>
          <a:xfrm>
            <a:off x="733425" y="2364432"/>
            <a:ext cx="3340149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 1</a:t>
            </a:r>
            <a:endParaRPr/>
          </a:p>
        </p:txBody>
      </p:sp>
      <p:sp>
        <p:nvSpPr>
          <p:cNvPr id="388" name="Google Shape;388;p22"/>
          <p:cNvSpPr txBox="1"/>
          <p:nvPr/>
        </p:nvSpPr>
        <p:spPr>
          <a:xfrm>
            <a:off x="733425" y="2577703"/>
            <a:ext cx="3340149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A58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Experience 1</a:t>
            </a:r>
            <a:endParaRPr/>
          </a:p>
        </p:txBody>
      </p:sp>
      <p:sp>
        <p:nvSpPr>
          <p:cNvPr id="389" name="Google Shape;389;p22"/>
          <p:cNvSpPr txBox="1"/>
          <p:nvPr/>
        </p:nvSpPr>
        <p:spPr>
          <a:xfrm>
            <a:off x="4425999" y="2044451"/>
            <a:ext cx="3340149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766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Worker 2</a:t>
            </a:r>
            <a:endParaRPr/>
          </a:p>
        </p:txBody>
      </p:sp>
      <p:sp>
        <p:nvSpPr>
          <p:cNvPr id="390" name="Google Shape;390;p22"/>
          <p:cNvSpPr txBox="1"/>
          <p:nvPr/>
        </p:nvSpPr>
        <p:spPr>
          <a:xfrm>
            <a:off x="4425999" y="2364432"/>
            <a:ext cx="3340149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 2</a:t>
            </a:r>
            <a:endParaRPr/>
          </a:p>
        </p:txBody>
      </p:sp>
      <p:sp>
        <p:nvSpPr>
          <p:cNvPr id="391" name="Google Shape;391;p22"/>
          <p:cNvSpPr txBox="1"/>
          <p:nvPr/>
        </p:nvSpPr>
        <p:spPr>
          <a:xfrm>
            <a:off x="4425999" y="2577703"/>
            <a:ext cx="3340149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A58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Experience 2</a:t>
            </a:r>
            <a:endParaRPr/>
          </a:p>
        </p:txBody>
      </p:sp>
      <p:sp>
        <p:nvSpPr>
          <p:cNvPr id="392" name="Google Shape;392;p22"/>
          <p:cNvSpPr txBox="1"/>
          <p:nvPr/>
        </p:nvSpPr>
        <p:spPr>
          <a:xfrm>
            <a:off x="8118574" y="2044451"/>
            <a:ext cx="3340149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766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Worker 3</a:t>
            </a:r>
            <a:endParaRPr/>
          </a:p>
        </p:txBody>
      </p:sp>
      <p:sp>
        <p:nvSpPr>
          <p:cNvPr id="393" name="Google Shape;393;p22"/>
          <p:cNvSpPr txBox="1"/>
          <p:nvPr/>
        </p:nvSpPr>
        <p:spPr>
          <a:xfrm>
            <a:off x="8118574" y="2364432"/>
            <a:ext cx="3340149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 3</a:t>
            </a:r>
            <a:endParaRPr/>
          </a:p>
        </p:txBody>
      </p:sp>
      <p:sp>
        <p:nvSpPr>
          <p:cNvPr id="394" name="Google Shape;394;p22"/>
          <p:cNvSpPr txBox="1"/>
          <p:nvPr/>
        </p:nvSpPr>
        <p:spPr>
          <a:xfrm>
            <a:off x="8118574" y="2577703"/>
            <a:ext cx="3340149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A58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Experience 3</a:t>
            </a:r>
            <a:endParaRPr/>
          </a:p>
        </p:txBody>
      </p:sp>
      <p:pic>
        <p:nvPicPr>
          <p:cNvPr id="395" name="Google Shape;395;p22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47896" y="4421682"/>
            <a:ext cx="180975" cy="177849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2"/>
          <p:cNvSpPr txBox="1"/>
          <p:nvPr/>
        </p:nvSpPr>
        <p:spPr>
          <a:xfrm>
            <a:off x="904875" y="4768453"/>
            <a:ext cx="484822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independent worker threads run distinct environment instances simultaneously.</a:t>
            </a:r>
            <a:endParaRPr/>
          </a:p>
        </p:txBody>
      </p:sp>
      <p:sp>
        <p:nvSpPr>
          <p:cNvPr id="397" name="Google Shape;397;p22"/>
          <p:cNvSpPr txBox="1"/>
          <p:nvPr/>
        </p:nvSpPr>
        <p:spPr>
          <a:xfrm>
            <a:off x="904875" y="5522714"/>
            <a:ext cx="484822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Workers compute gradients locally and update global network asynchronously.</a:t>
            </a:r>
            <a:endParaRPr/>
          </a:p>
        </p:txBody>
      </p:sp>
      <p:pic>
        <p:nvPicPr>
          <p:cNvPr id="398" name="Google Shape;398;p22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429375" y="4428708"/>
            <a:ext cx="152400" cy="177849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2"/>
          <p:cNvSpPr txBox="1"/>
          <p:nvPr/>
        </p:nvSpPr>
        <p:spPr>
          <a:xfrm>
            <a:off x="6667500" y="4768453"/>
            <a:ext cx="484822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Enhanced Exploration: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Diverse worker policies prevent getting stuck in local optima.</a:t>
            </a:r>
            <a:endParaRPr/>
          </a:p>
        </p:txBody>
      </p:sp>
      <p:sp>
        <p:nvSpPr>
          <p:cNvPr id="400" name="Google Shape;400;p22"/>
          <p:cNvSpPr txBox="1"/>
          <p:nvPr/>
        </p:nvSpPr>
        <p:spPr>
          <a:xfrm>
            <a:off x="6667500" y="5522714"/>
            <a:ext cx="484822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Replay Memory Needed: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Asynchronous sampling decorrelates data natively.</a:t>
            </a:r>
            <a:endParaRPr/>
          </a:p>
        </p:txBody>
      </p:sp>
      <p:sp>
        <p:nvSpPr>
          <p:cNvPr id="401" name="Google Shape;401;p22"/>
          <p:cNvSpPr txBox="1"/>
          <p:nvPr/>
        </p:nvSpPr>
        <p:spPr>
          <a:xfrm>
            <a:off x="676275" y="4768453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sp>
        <p:nvSpPr>
          <p:cNvPr id="402" name="Google Shape;402;p22"/>
          <p:cNvSpPr txBox="1"/>
          <p:nvPr/>
        </p:nvSpPr>
        <p:spPr>
          <a:xfrm>
            <a:off x="676275" y="5522714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sp>
        <p:nvSpPr>
          <p:cNvPr id="403" name="Google Shape;403;p22"/>
          <p:cNvSpPr txBox="1"/>
          <p:nvPr/>
        </p:nvSpPr>
        <p:spPr>
          <a:xfrm>
            <a:off x="6438900" y="4768453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sp>
        <p:nvSpPr>
          <p:cNvPr id="404" name="Google Shape;404;p22"/>
          <p:cNvSpPr txBox="1"/>
          <p:nvPr/>
        </p:nvSpPr>
        <p:spPr>
          <a:xfrm>
            <a:off x="6438900" y="5522714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sp>
        <p:nvSpPr>
          <p:cNvPr id="405" name="Google Shape;405;p22"/>
          <p:cNvSpPr txBox="1"/>
          <p:nvPr/>
        </p:nvSpPr>
        <p:spPr>
          <a:xfrm>
            <a:off x="476250" y="381000"/>
            <a:ext cx="11715750" cy="516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1" i="0" u="none" strike="noStrike" cap="none" dirty="0">
                <a:solidFill>
                  <a:srgbClr val="1E3A8A"/>
                </a:solidFill>
                <a:latin typeface="Batang"/>
                <a:ea typeface="Batang"/>
                <a:cs typeface="Batang"/>
                <a:sym typeface="Batang"/>
              </a:rPr>
              <a:t>Asynchronous Actor-Critic (A3C)</a:t>
            </a:r>
            <a:endParaRPr dirty="0"/>
          </a:p>
        </p:txBody>
      </p:sp>
      <p:sp>
        <p:nvSpPr>
          <p:cNvPr id="406" name="Google Shape;406;p22"/>
          <p:cNvSpPr/>
          <p:nvPr/>
        </p:nvSpPr>
        <p:spPr>
          <a:xfrm>
            <a:off x="476250" y="883741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093291"/>
            <a:ext cx="5276850" cy="3049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38850" y="1093291"/>
            <a:ext cx="5676900" cy="3049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0" y="3058566"/>
            <a:ext cx="1143000" cy="327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00950" y="2952005"/>
            <a:ext cx="1143000" cy="540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10650" y="3058566"/>
            <a:ext cx="1143000" cy="327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420350" y="3058566"/>
            <a:ext cx="1143000" cy="327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19137" y="1263577"/>
            <a:ext cx="2186582" cy="32518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9" name="Google Shape;419;p23"/>
          <p:cNvGraphicFramePr/>
          <p:nvPr/>
        </p:nvGraphicFramePr>
        <p:xfrm>
          <a:off x="628650" y="1770905"/>
          <a:ext cx="4972025" cy="22835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1435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6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1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1E40A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A2C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A580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A3C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Execution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Synchronous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Asynchronous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Updates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Coordinated batch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Independent threads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33415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Complexity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Simpler, GPU-friendly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Higher thread lock overhead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Stability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Highly stable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Fast exploration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20" name="Google Shape;420;p2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191250" y="1255216"/>
            <a:ext cx="2881312" cy="325189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3"/>
          <p:cNvSpPr txBox="1"/>
          <p:nvPr/>
        </p:nvSpPr>
        <p:spPr>
          <a:xfrm>
            <a:off x="6191250" y="1675655"/>
            <a:ext cx="53721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 Space: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Robot position, package coordinates, battery level, obstacles.</a:t>
            </a:r>
            <a:endParaRPr/>
          </a:p>
        </p:txBody>
      </p:sp>
      <p:sp>
        <p:nvSpPr>
          <p:cNvPr id="422" name="Google Shape;422;p23"/>
          <p:cNvSpPr txBox="1"/>
          <p:nvPr/>
        </p:nvSpPr>
        <p:spPr>
          <a:xfrm>
            <a:off x="6191250" y="2266205"/>
            <a:ext cx="53721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 Space: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Move, turn, pick up package, deliver.</a:t>
            </a:r>
            <a:endParaRPr/>
          </a:p>
        </p:txBody>
      </p:sp>
      <p:sp>
        <p:nvSpPr>
          <p:cNvPr id="423" name="Google Shape;423;p23"/>
          <p:cNvSpPr txBox="1"/>
          <p:nvPr/>
        </p:nvSpPr>
        <p:spPr>
          <a:xfrm>
            <a:off x="6191250" y="2590055"/>
            <a:ext cx="53721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Rewards: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+10 delivery, -10 collision, -1 redundant step.</a:t>
            </a:r>
            <a:endParaRPr/>
          </a:p>
        </p:txBody>
      </p:sp>
      <p:pic>
        <p:nvPicPr>
          <p:cNvPr id="424" name="Google Shape;424;p2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28650" y="1343174"/>
            <a:ext cx="180975" cy="177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2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096000" y="1342207"/>
            <a:ext cx="219075" cy="177849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23"/>
          <p:cNvSpPr txBox="1"/>
          <p:nvPr/>
        </p:nvSpPr>
        <p:spPr>
          <a:xfrm>
            <a:off x="7391400" y="3115716"/>
            <a:ext cx="1524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endParaRPr/>
          </a:p>
        </p:txBody>
      </p:sp>
      <p:sp>
        <p:nvSpPr>
          <p:cNvPr id="427" name="Google Shape;427;p23"/>
          <p:cNvSpPr txBox="1"/>
          <p:nvPr/>
        </p:nvSpPr>
        <p:spPr>
          <a:xfrm>
            <a:off x="8801100" y="3115716"/>
            <a:ext cx="1524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endParaRPr/>
          </a:p>
        </p:txBody>
      </p:sp>
      <p:sp>
        <p:nvSpPr>
          <p:cNvPr id="428" name="Google Shape;428;p23"/>
          <p:cNvSpPr txBox="1"/>
          <p:nvPr/>
        </p:nvSpPr>
        <p:spPr>
          <a:xfrm>
            <a:off x="10210800" y="3115716"/>
            <a:ext cx="1524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endParaRPr/>
          </a:p>
        </p:txBody>
      </p:sp>
      <p:sp>
        <p:nvSpPr>
          <p:cNvPr id="429" name="Google Shape;429;p23"/>
          <p:cNvSpPr txBox="1"/>
          <p:nvPr/>
        </p:nvSpPr>
        <p:spPr>
          <a:xfrm>
            <a:off x="476250" y="381000"/>
            <a:ext cx="11715750" cy="516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1" i="0" u="none" strike="noStrike" cap="none" dirty="0">
                <a:solidFill>
                  <a:srgbClr val="1E3A8A"/>
                </a:solidFill>
                <a:latin typeface="Batang"/>
                <a:ea typeface="Batang"/>
                <a:cs typeface="Batang"/>
                <a:sym typeface="Batang"/>
              </a:rPr>
              <a:t>A2C vs A3C &amp; Industrial</a:t>
            </a:r>
            <a:endParaRPr dirty="0"/>
          </a:p>
        </p:txBody>
      </p:sp>
      <p:sp>
        <p:nvSpPr>
          <p:cNvPr id="430" name="Google Shape;430;p23"/>
          <p:cNvSpPr/>
          <p:nvPr/>
        </p:nvSpPr>
        <p:spPr>
          <a:xfrm>
            <a:off x="476250" y="883741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5796408"/>
            <a:ext cx="11239500" cy="680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1093291"/>
            <a:ext cx="5476875" cy="3412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1093291"/>
            <a:ext cx="5476875" cy="3412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6275" y="1302841"/>
            <a:ext cx="2134046" cy="325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900" y="1302841"/>
            <a:ext cx="2260848" cy="325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7896" y="1376510"/>
            <a:ext cx="180975" cy="177849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24"/>
          <p:cNvSpPr txBox="1"/>
          <p:nvPr/>
        </p:nvSpPr>
        <p:spPr>
          <a:xfrm>
            <a:off x="904875" y="1723280"/>
            <a:ext cx="484822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Synergistic Learning: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Actor handles action selection while Critic provides baseline evaluation.</a:t>
            </a:r>
            <a:endParaRPr/>
          </a:p>
        </p:txBody>
      </p:sp>
      <p:sp>
        <p:nvSpPr>
          <p:cNvPr id="443" name="Google Shape;443;p24"/>
          <p:cNvSpPr txBox="1"/>
          <p:nvPr/>
        </p:nvSpPr>
        <p:spPr>
          <a:xfrm>
            <a:off x="904875" y="2477541"/>
            <a:ext cx="4848225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A2C Efficiency: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Synchronized advantage evaluation provides reliable GPU-accelerated updates.</a:t>
            </a:r>
            <a:endParaRPr/>
          </a:p>
        </p:txBody>
      </p:sp>
      <p:sp>
        <p:nvSpPr>
          <p:cNvPr id="444" name="Google Shape;444;p24"/>
          <p:cNvSpPr txBox="1"/>
          <p:nvPr/>
        </p:nvSpPr>
        <p:spPr>
          <a:xfrm>
            <a:off x="904875" y="3551783"/>
            <a:ext cx="484822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A3C Scalability: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Parallel worker threads foster continuous asynchronous exploration.</a:t>
            </a:r>
            <a:endParaRPr/>
          </a:p>
        </p:txBody>
      </p:sp>
      <p:pic>
        <p:nvPicPr>
          <p:cNvPr id="445" name="Google Shape;445;p2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360196" y="1376510"/>
            <a:ext cx="219075" cy="177849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24"/>
          <p:cNvSpPr txBox="1"/>
          <p:nvPr/>
        </p:nvSpPr>
        <p:spPr>
          <a:xfrm>
            <a:off x="6667500" y="1723280"/>
            <a:ext cx="484822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Integrates value and policy learning seamlessly for real-time continuous control.</a:t>
            </a:r>
            <a:endParaRPr/>
          </a:p>
        </p:txBody>
      </p:sp>
      <p:sp>
        <p:nvSpPr>
          <p:cNvPr id="447" name="Google Shape;447;p24"/>
          <p:cNvSpPr txBox="1"/>
          <p:nvPr/>
        </p:nvSpPr>
        <p:spPr>
          <a:xfrm>
            <a:off x="6667500" y="2477541"/>
            <a:ext cx="4848225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Ideal for high-dimensional robotic control, autonomous systems, and dynamic decision pipelines.</a:t>
            </a:r>
            <a:endParaRPr/>
          </a:p>
        </p:txBody>
      </p:sp>
      <p:sp>
        <p:nvSpPr>
          <p:cNvPr id="448" name="Google Shape;448;p24"/>
          <p:cNvSpPr txBox="1"/>
          <p:nvPr/>
        </p:nvSpPr>
        <p:spPr>
          <a:xfrm>
            <a:off x="676275" y="1723280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sp>
        <p:nvSpPr>
          <p:cNvPr id="449" name="Google Shape;449;p24"/>
          <p:cNvSpPr txBox="1"/>
          <p:nvPr/>
        </p:nvSpPr>
        <p:spPr>
          <a:xfrm>
            <a:off x="676275" y="2477541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sp>
        <p:nvSpPr>
          <p:cNvPr id="450" name="Google Shape;450;p24"/>
          <p:cNvSpPr txBox="1"/>
          <p:nvPr/>
        </p:nvSpPr>
        <p:spPr>
          <a:xfrm>
            <a:off x="676275" y="3551783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sp>
        <p:nvSpPr>
          <p:cNvPr id="451" name="Google Shape;451;p24"/>
          <p:cNvSpPr txBox="1"/>
          <p:nvPr/>
        </p:nvSpPr>
        <p:spPr>
          <a:xfrm>
            <a:off x="6438900" y="1723280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sp>
        <p:nvSpPr>
          <p:cNvPr id="452" name="Google Shape;452;p24"/>
          <p:cNvSpPr txBox="1"/>
          <p:nvPr/>
        </p:nvSpPr>
        <p:spPr>
          <a:xfrm>
            <a:off x="6438900" y="2477541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/>
          </a:p>
        </p:txBody>
      </p:sp>
      <p:sp>
        <p:nvSpPr>
          <p:cNvPr id="453" name="Google Shape;453;p24"/>
          <p:cNvSpPr txBox="1"/>
          <p:nvPr/>
        </p:nvSpPr>
        <p:spPr>
          <a:xfrm>
            <a:off x="476250" y="381000"/>
            <a:ext cx="11715750" cy="516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1" i="0" u="none" strike="noStrike" cap="none" dirty="0">
                <a:solidFill>
                  <a:srgbClr val="1E3A8A"/>
                </a:solidFill>
                <a:latin typeface="Batang"/>
                <a:ea typeface="Batang"/>
                <a:cs typeface="Batang"/>
                <a:sym typeface="Batang"/>
              </a:rPr>
              <a:t>Actor-Critic Methods: Key Takeaways</a:t>
            </a:r>
            <a:endParaRPr dirty="0"/>
          </a:p>
        </p:txBody>
      </p:sp>
      <p:sp>
        <p:nvSpPr>
          <p:cNvPr id="454" name="Google Shape;454;p24"/>
          <p:cNvSpPr/>
          <p:nvPr/>
        </p:nvSpPr>
        <p:spPr>
          <a:xfrm>
            <a:off x="476250" y="883741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470</Words>
  <Application>Microsoft Office PowerPoint</Application>
  <PresentationFormat>Widescreen</PresentationFormat>
  <Paragraphs>98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Batang</vt:lpstr>
      <vt:lpstr>Arial</vt:lpstr>
      <vt:lpstr>Calibri</vt:lpstr>
      <vt:lpstr>Calibri Light</vt:lpstr>
      <vt:lpstr>Segoe UI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Sirivally Singari</dc:creator>
  <cp:lastModifiedBy>Sirivally Singari</cp:lastModifiedBy>
  <cp:revision>1</cp:revision>
  <dcterms:created xsi:type="dcterms:W3CDTF">2026-08-18T08:25:21Z</dcterms:created>
  <dcterms:modified xsi:type="dcterms:W3CDTF">2026-08-18T08:28:06Z</dcterms:modified>
</cp:coreProperties>
</file>