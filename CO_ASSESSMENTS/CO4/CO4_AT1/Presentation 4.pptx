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960CE4-1257-4324-92D5-4BA07D14AEE6}">
  <a:tblStyle styleId="{54960CE4-1257-4324-92D5-4BA07D14AEE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422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743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3.png"/><Relationship Id="rId21" Type="http://schemas.openxmlformats.org/officeDocument/2006/relationships/image" Target="../media/image36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59.png"/><Relationship Id="rId3" Type="http://schemas.openxmlformats.org/officeDocument/2006/relationships/image" Target="../media/image3.png"/><Relationship Id="rId7" Type="http://schemas.openxmlformats.org/officeDocument/2006/relationships/image" Target="../media/image54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21.png"/><Relationship Id="rId5" Type="http://schemas.openxmlformats.org/officeDocument/2006/relationships/image" Target="../media/image52.png"/><Relationship Id="rId15" Type="http://schemas.openxmlformats.org/officeDocument/2006/relationships/image" Target="../media/image61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3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3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27F0CB-3372-D177-E5B5-FB89B56AA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04" y="138517"/>
            <a:ext cx="1440167" cy="13426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96DEAFC-C652-7FC4-C1FF-A1278F2460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6"/>
          <a:stretch>
            <a:fillRect/>
          </a:stretch>
        </p:blipFill>
        <p:spPr>
          <a:xfrm>
            <a:off x="10451647" y="138517"/>
            <a:ext cx="1525826" cy="13426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64D6BF-E3EF-56FE-C6B5-5BBA01FC958F}"/>
              </a:ext>
            </a:extLst>
          </p:cNvPr>
          <p:cNvSpPr txBox="1"/>
          <p:nvPr/>
        </p:nvSpPr>
        <p:spPr>
          <a:xfrm>
            <a:off x="3470025" y="2505910"/>
            <a:ext cx="6094413" cy="369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799" b="1" dirty="0">
                <a:solidFill>
                  <a:srgbClr val="111827"/>
                </a:solidFill>
                <a:highlight>
                  <a:srgbClr val="E9E9E9"/>
                </a:highlight>
                <a:latin typeface="Batang"/>
                <a:ea typeface="Batang"/>
              </a:rPr>
              <a:t>MLA0301 - REINFORCEMENT LEARNING</a:t>
            </a:r>
            <a:endParaRPr lang="en-US" sz="1799" dirty="0">
              <a:latin typeface="Batang"/>
              <a:ea typeface="Batang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3267B5-402C-503B-7FC4-9E943B420072}"/>
              </a:ext>
            </a:extLst>
          </p:cNvPr>
          <p:cNvSpPr txBox="1"/>
          <p:nvPr/>
        </p:nvSpPr>
        <p:spPr>
          <a:xfrm>
            <a:off x="2089820" y="3317944"/>
            <a:ext cx="7644903" cy="1074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20007"/>
              </a:lnSpc>
            </a:pPr>
            <a:r>
              <a:rPr lang="en-US" sz="2799" b="1" dirty="0">
                <a:solidFill>
                  <a:schemeClr val="tx1"/>
                </a:solidFill>
                <a:latin typeface="Batang"/>
                <a:ea typeface="Batang"/>
                <a:cs typeface="Batang"/>
                <a:sym typeface="Batang"/>
              </a:rPr>
              <a:t>Deep Q-Networks for Intelligent Decision-Making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7E66E0-7CCB-894C-F1CF-8E0624AA4E30}"/>
              </a:ext>
            </a:extLst>
          </p:cNvPr>
          <p:cNvSpPr txBox="1"/>
          <p:nvPr/>
        </p:nvSpPr>
        <p:spPr>
          <a:xfrm>
            <a:off x="1059148" y="5065552"/>
            <a:ext cx="6094413" cy="872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lnSpc>
                <a:spcPct val="150000"/>
              </a:lnSpc>
              <a:buNone/>
            </a:pPr>
            <a:r>
              <a:rPr lang="en-US" sz="1799" dirty="0">
                <a:solidFill>
                  <a:srgbClr val="414B5A"/>
                </a:solidFill>
                <a:latin typeface="Times New Roman" panose="02020603050405020304" pitchFamily="18" charset="0"/>
              </a:rPr>
              <a:t>Guided by: </a:t>
            </a:r>
            <a:r>
              <a:rPr lang="en-US" sz="1799" dirty="0">
                <a:latin typeface="Times New Roman" panose="02020603050405020304" pitchFamily="18" charset="0"/>
              </a:rPr>
              <a:t>​</a:t>
            </a:r>
            <a:endParaRPr lang="en-US" sz="1799" dirty="0">
              <a:latin typeface="Segoe UI" panose="020B0502040204020203" pitchFamily="34" charset="0"/>
            </a:endParaRPr>
          </a:p>
          <a:p>
            <a:pPr algn="l" rtl="0" fontAlgn="base">
              <a:lnSpc>
                <a:spcPct val="150000"/>
              </a:lnSpc>
              <a:buNone/>
            </a:pPr>
            <a:r>
              <a:rPr lang="en-US" sz="1799" dirty="0">
                <a:solidFill>
                  <a:srgbClr val="414B5A"/>
                </a:solidFill>
                <a:latin typeface="Times New Roman" panose="02020603050405020304" pitchFamily="18" charset="0"/>
              </a:rPr>
              <a:t>Dr. Senthil G A</a:t>
            </a:r>
            <a:r>
              <a:rPr lang="en-US" sz="1799" dirty="0">
                <a:latin typeface="Times New Roman" panose="02020603050405020304" pitchFamily="18" charset="0"/>
              </a:rPr>
              <a:t>​</a:t>
            </a:r>
            <a:endParaRPr lang="en-US" sz="1799" dirty="0"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40FCE4-ADF6-40D8-18A1-F5185BC53628}"/>
              </a:ext>
            </a:extLst>
          </p:cNvPr>
          <p:cNvSpPr txBox="1"/>
          <p:nvPr/>
        </p:nvSpPr>
        <p:spPr>
          <a:xfrm>
            <a:off x="8011776" y="4917808"/>
            <a:ext cx="6094413" cy="872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lnSpc>
                <a:spcPct val="150000"/>
              </a:lnSpc>
              <a:buNone/>
            </a:pPr>
            <a:r>
              <a:rPr lang="en-US" sz="1799" dirty="0">
                <a:solidFill>
                  <a:srgbClr val="414B5A"/>
                </a:solidFill>
                <a:latin typeface="Times New Roman" panose="02020603050405020304" pitchFamily="18" charset="0"/>
              </a:rPr>
              <a:t>Presented by: </a:t>
            </a:r>
            <a:r>
              <a:rPr lang="en-US" sz="1799" dirty="0">
                <a:latin typeface="Times New Roman" panose="02020603050405020304" pitchFamily="18" charset="0"/>
              </a:rPr>
              <a:t>​</a:t>
            </a:r>
            <a:endParaRPr lang="en-US" sz="1799" dirty="0">
              <a:latin typeface="Segoe UI" panose="020B0502040204020203" pitchFamily="34" charset="0"/>
            </a:endParaRPr>
          </a:p>
          <a:p>
            <a:pPr algn="l" rtl="0" fontAlgn="base">
              <a:lnSpc>
                <a:spcPct val="150000"/>
              </a:lnSpc>
              <a:buNone/>
            </a:pPr>
            <a:r>
              <a:rPr lang="en-US" sz="1799" dirty="0">
                <a:solidFill>
                  <a:srgbClr val="414B5A"/>
                </a:solidFill>
                <a:latin typeface="Times New Roman" panose="02020603050405020304" pitchFamily="18" charset="0"/>
              </a:rPr>
              <a:t>S. Sirivally (192472371)</a:t>
            </a:r>
            <a:r>
              <a:rPr lang="en-US" sz="1799" dirty="0">
                <a:latin typeface="Times New Roman" panose="02020603050405020304" pitchFamily="18" charset="0"/>
              </a:rPr>
              <a:t>​</a:t>
            </a:r>
            <a:endParaRPr lang="en-US" sz="1799" dirty="0"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97AC93-35A1-BF7B-B063-9B87F064EE2E}"/>
              </a:ext>
            </a:extLst>
          </p:cNvPr>
          <p:cNvSpPr txBox="1"/>
          <p:nvPr/>
        </p:nvSpPr>
        <p:spPr>
          <a:xfrm>
            <a:off x="2569309" y="405379"/>
            <a:ext cx="7053385" cy="108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696" algn="ctr">
              <a:spcBef>
                <a:spcPts val="100"/>
              </a:spcBef>
            </a:pPr>
            <a:r>
              <a:rPr lang="en-IN" sz="2799" spc="-25" dirty="0">
                <a:latin typeface="Times New Roman"/>
                <a:cs typeface="Times New Roman"/>
              </a:rPr>
              <a:t>SIMATS</a:t>
            </a:r>
            <a:r>
              <a:rPr lang="en-IN" sz="2799" spc="-125" dirty="0">
                <a:latin typeface="Times New Roman"/>
                <a:cs typeface="Times New Roman"/>
              </a:rPr>
              <a:t>  </a:t>
            </a:r>
            <a:r>
              <a:rPr lang="en-IN" sz="2799" spc="-10" dirty="0">
                <a:latin typeface="Times New Roman"/>
                <a:cs typeface="Times New Roman"/>
              </a:rPr>
              <a:t>ENGINEERING</a:t>
            </a:r>
          </a:p>
          <a:p>
            <a:pPr marL="12696" algn="ctr">
              <a:spcBef>
                <a:spcPts val="100"/>
              </a:spcBef>
            </a:pPr>
            <a:r>
              <a:rPr lang="en-US" sz="1799" b="1" spc="-55" dirty="0">
                <a:latin typeface="Times New Roman"/>
                <a:cs typeface="Times New Roman"/>
              </a:rPr>
              <a:t>SAVEETHA</a:t>
            </a:r>
            <a:r>
              <a:rPr lang="en-US" sz="1799" b="1" spc="-110" dirty="0">
                <a:latin typeface="Times New Roman"/>
                <a:cs typeface="Times New Roman"/>
              </a:rPr>
              <a:t> </a:t>
            </a:r>
            <a:r>
              <a:rPr lang="en-US" sz="1799" b="1" spc="-10" dirty="0">
                <a:latin typeface="Times New Roman"/>
                <a:cs typeface="Times New Roman"/>
              </a:rPr>
              <a:t>INSTITUTE</a:t>
            </a:r>
            <a:r>
              <a:rPr lang="en-US" sz="1799" b="1" dirty="0">
                <a:latin typeface="Times New Roman"/>
                <a:cs typeface="Times New Roman"/>
              </a:rPr>
              <a:t> OF</a:t>
            </a:r>
            <a:r>
              <a:rPr lang="en-US" sz="1799" b="1" spc="-75" dirty="0">
                <a:latin typeface="Times New Roman"/>
                <a:cs typeface="Times New Roman"/>
              </a:rPr>
              <a:t> </a:t>
            </a:r>
            <a:r>
              <a:rPr lang="en-US" sz="1799" b="1" spc="-25" dirty="0">
                <a:latin typeface="Times New Roman"/>
                <a:cs typeface="Times New Roman"/>
              </a:rPr>
              <a:t>MEDICAL </a:t>
            </a:r>
            <a:r>
              <a:rPr lang="en-US" sz="1799" b="1" spc="-220" dirty="0">
                <a:latin typeface="Times New Roman"/>
                <a:cs typeface="Times New Roman"/>
              </a:rPr>
              <a:t> </a:t>
            </a:r>
            <a:r>
              <a:rPr lang="en-US" sz="1799" b="1" spc="-25" dirty="0">
                <a:latin typeface="Times New Roman"/>
                <a:cs typeface="Times New Roman"/>
              </a:rPr>
              <a:t>AND TECHNICAL</a:t>
            </a:r>
            <a:r>
              <a:rPr lang="en-US" sz="1799" b="1" spc="-55" dirty="0">
                <a:latin typeface="Times New Roman"/>
                <a:cs typeface="Times New Roman"/>
              </a:rPr>
              <a:t> </a:t>
            </a:r>
            <a:r>
              <a:rPr lang="en-US" sz="1799" b="1" spc="-10" dirty="0">
                <a:latin typeface="Times New Roman"/>
                <a:cs typeface="Times New Roman"/>
              </a:rPr>
              <a:t>SCIENCES</a:t>
            </a:r>
          </a:p>
        </p:txBody>
      </p:sp>
    </p:spTree>
    <p:extLst>
      <p:ext uri="{BB962C8B-B14F-4D97-AF65-F5344CB8AC3E}">
        <p14:creationId xmlns:p14="http://schemas.microsoft.com/office/powerpoint/2010/main" val="1172705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42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519832"/>
            <a:ext cx="6024562" cy="4487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86562" y="1519832"/>
            <a:ext cx="4929187" cy="1398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86562" y="3061543"/>
            <a:ext cx="4929187" cy="2061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12334" y="3834407"/>
            <a:ext cx="1143000" cy="40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61635" y="3834407"/>
            <a:ext cx="1379041" cy="40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346977" y="3834407"/>
            <a:ext cx="1143000" cy="40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89117" y="4378672"/>
            <a:ext cx="1143000" cy="40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538418" y="4378672"/>
            <a:ext cx="1425326" cy="40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370046" y="4378672"/>
            <a:ext cx="1143000" cy="40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6275" y="1729382"/>
            <a:ext cx="1542603" cy="325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76275" y="1803051"/>
            <a:ext cx="152400" cy="17784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904875" y="2149822"/>
            <a:ext cx="5395912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Q-Learning Overview: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Stores state-action values in a discrete Q-table.</a:t>
            </a:r>
            <a:endParaRPr dirty="0"/>
          </a:p>
        </p:txBody>
      </p:sp>
      <p:sp>
        <p:nvSpPr>
          <p:cNvPr id="97" name="Google Shape;97;p13"/>
          <p:cNvSpPr txBox="1"/>
          <p:nvPr/>
        </p:nvSpPr>
        <p:spPr>
          <a:xfrm>
            <a:off x="904875" y="2904083"/>
            <a:ext cx="5395912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Tabular Limitations: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Large or continuous state spaces make traditional Q-tables computationally impractical.</a:t>
            </a:r>
            <a:endParaRPr dirty="0"/>
          </a:p>
        </p:txBody>
      </p:sp>
      <p:sp>
        <p:nvSpPr>
          <p:cNvPr id="98" name="Google Shape;98;p13"/>
          <p:cNvSpPr txBox="1"/>
          <p:nvPr/>
        </p:nvSpPr>
        <p:spPr>
          <a:xfrm>
            <a:off x="904875" y="3658344"/>
            <a:ext cx="5395912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Function Approximation: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DQN substitutes the Q-table with a Deep Neural Network to approximate Q-values.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904875" y="4732585"/>
            <a:ext cx="5395912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State-to-Action Mapping: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network maps high-dimensional input states directly to Q-values for all available actions.</a:t>
            </a:r>
            <a:endParaRPr/>
          </a:p>
        </p:txBody>
      </p:sp>
      <p:pic>
        <p:nvPicPr>
          <p:cNvPr id="100" name="Google Shape;100;p1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986587" y="1729382"/>
            <a:ext cx="2487810" cy="32518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 txBox="1"/>
          <p:nvPr/>
        </p:nvSpPr>
        <p:spPr>
          <a:xfrm>
            <a:off x="6986587" y="2149822"/>
            <a:ext cx="4529137" cy="28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Q-Table:</a:t>
            </a:r>
            <a:r>
              <a:rPr lang="en-US" sz="1599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Suited for small, discrete state spaces.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6986587" y="2434232"/>
            <a:ext cx="4529137" cy="28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DQN:</a:t>
            </a:r>
            <a:r>
              <a:rPr lang="en-US" sz="1599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Scalable to massive/continuous state spaces.</a:t>
            </a:r>
            <a:endParaRPr/>
          </a:p>
        </p:txBody>
      </p:sp>
      <p:pic>
        <p:nvPicPr>
          <p:cNvPr id="103" name="Google Shape;103;p13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340774" y="3271093"/>
            <a:ext cx="1820614" cy="32518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3"/>
          <p:cNvSpPr txBox="1"/>
          <p:nvPr/>
        </p:nvSpPr>
        <p:spPr>
          <a:xfrm>
            <a:off x="676275" y="2149822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676275" y="2904083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676275" y="3658344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676275" y="4732585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pic>
        <p:nvPicPr>
          <p:cNvPr id="108" name="Google Shape;108;p13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902796" y="1803051"/>
            <a:ext cx="219075" cy="177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3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262192" y="3336577"/>
            <a:ext cx="200025" cy="17784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 txBox="1"/>
          <p:nvPr/>
        </p:nvSpPr>
        <p:spPr>
          <a:xfrm>
            <a:off x="8231534" y="3857327"/>
            <a:ext cx="253900" cy="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10016876" y="3857327"/>
            <a:ext cx="253900" cy="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8208317" y="4401591"/>
            <a:ext cx="253900" cy="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10039945" y="4401591"/>
            <a:ext cx="253900" cy="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476250" y="381000"/>
            <a:ext cx="11715750" cy="51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 dirty="0">
                <a:solidFill>
                  <a:srgbClr val="1E3A8A"/>
                </a:solidFill>
                <a:latin typeface="Batang"/>
                <a:ea typeface="Batang"/>
                <a:cs typeface="Batang"/>
                <a:sym typeface="Batang"/>
              </a:rPr>
              <a:t>Deep Q-Networks for Intelligent Decision-Making</a:t>
            </a:r>
            <a:endParaRPr dirty="0"/>
          </a:p>
        </p:txBody>
      </p:sp>
      <p:sp>
        <p:nvSpPr>
          <p:cNvPr id="115" name="Google Shape;115;p13"/>
          <p:cNvSpPr/>
          <p:nvPr/>
        </p:nvSpPr>
        <p:spPr>
          <a:xfrm>
            <a:off x="476250" y="1310282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093291"/>
            <a:ext cx="11239500" cy="3032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4268837"/>
            <a:ext cx="5476875" cy="2338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4268837"/>
            <a:ext cx="5476875" cy="2338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2334071"/>
            <a:ext cx="1282303" cy="551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688728" y="1388566"/>
            <a:ext cx="4403377" cy="2442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27007" y="2334071"/>
            <a:ext cx="1404639" cy="551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71298" y="2334071"/>
            <a:ext cx="1749176" cy="551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227933" y="21447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227933" y="26019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227933" y="30591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638228" y="19161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4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638228" y="23733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638228" y="28305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4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638228" y="32877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4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129039" y="23733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4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129039" y="2830562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4"/>
          <p:cNvSpPr txBox="1"/>
          <p:nvPr/>
        </p:nvSpPr>
        <p:spPr>
          <a:xfrm>
            <a:off x="2196703" y="2431851"/>
            <a:ext cx="253900" cy="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7330231" y="2431851"/>
            <a:ext cx="253900" cy="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9274522" y="2431851"/>
            <a:ext cx="253900" cy="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/>
          </a:p>
        </p:txBody>
      </p:sp>
      <p:pic>
        <p:nvPicPr>
          <p:cNvPr id="140" name="Google Shape;140;p14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676275" y="4478387"/>
            <a:ext cx="2116633" cy="325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4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6438900" y="4478387"/>
            <a:ext cx="1752600" cy="325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4" descr="imag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623887" y="4554182"/>
            <a:ext cx="200025" cy="17784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4"/>
          <p:cNvSpPr txBox="1"/>
          <p:nvPr/>
        </p:nvSpPr>
        <p:spPr>
          <a:xfrm>
            <a:off x="904875" y="4898826"/>
            <a:ext cx="48482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Layer: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Accepts state vector representation directly from environment sensors.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904875" y="5653087"/>
            <a:ext cx="48482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Hidden Layers: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Deep dense or convolutional layers extract high-level feature representations.</a:t>
            </a:r>
            <a:endParaRPr/>
          </a:p>
        </p:txBody>
      </p:sp>
      <p:pic>
        <p:nvPicPr>
          <p:cNvPr id="145" name="Google Shape;145;p14" descr="image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6429375" y="4545062"/>
            <a:ext cx="180975" cy="17784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4"/>
          <p:cNvSpPr txBox="1"/>
          <p:nvPr/>
        </p:nvSpPr>
        <p:spPr>
          <a:xfrm>
            <a:off x="6667500" y="4898826"/>
            <a:ext cx="48482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Layer: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Predicts scalar Q-value estimate Q(s, a) for every available action.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6667500" y="5653087"/>
            <a:ext cx="48482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 Selection: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Agent selects action with maximum estimated Q-value (argmax Q).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3162300" y="1817191"/>
            <a:ext cx="474166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4501009" y="1387898"/>
            <a:ext cx="1252091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HIDDEN LAYERS</a:t>
            </a:r>
            <a:endParaRPr dirty="0"/>
          </a:p>
        </p:txBody>
      </p:sp>
      <p:sp>
        <p:nvSpPr>
          <p:cNvPr id="150" name="Google Shape;150;p14"/>
          <p:cNvSpPr txBox="1"/>
          <p:nvPr/>
        </p:nvSpPr>
        <p:spPr>
          <a:xfrm>
            <a:off x="5983039" y="2045791"/>
            <a:ext cx="635049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676275" y="4898826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152" name="Google Shape;152;p14"/>
          <p:cNvSpPr txBox="1"/>
          <p:nvPr/>
        </p:nvSpPr>
        <p:spPr>
          <a:xfrm>
            <a:off x="676275" y="5653087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153" name="Google Shape;153;p14"/>
          <p:cNvSpPr txBox="1"/>
          <p:nvPr/>
        </p:nvSpPr>
        <p:spPr>
          <a:xfrm>
            <a:off x="6438900" y="4898826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154" name="Google Shape;154;p14"/>
          <p:cNvSpPr txBox="1"/>
          <p:nvPr/>
        </p:nvSpPr>
        <p:spPr>
          <a:xfrm>
            <a:off x="6438900" y="5653087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476250" y="381000"/>
            <a:ext cx="11715750" cy="51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 dirty="0">
                <a:solidFill>
                  <a:srgbClr val="1E3A8A"/>
                </a:solidFill>
                <a:latin typeface="Batang"/>
                <a:ea typeface="Batang"/>
                <a:cs typeface="Batang"/>
                <a:sym typeface="Batang"/>
              </a:rPr>
              <a:t>DQN Architecture</a:t>
            </a:r>
            <a:endParaRPr dirty="0"/>
          </a:p>
        </p:txBody>
      </p:sp>
      <p:sp>
        <p:nvSpPr>
          <p:cNvPr id="156" name="Google Shape;156;p14"/>
          <p:cNvSpPr/>
          <p:nvPr/>
        </p:nvSpPr>
        <p:spPr>
          <a:xfrm>
            <a:off x="476250" y="883741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59235" y="1236166"/>
            <a:ext cx="1713011" cy="835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05079" y="1236166"/>
            <a:ext cx="1652587" cy="835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3818483"/>
            <a:ext cx="5476875" cy="2658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8875" y="3818483"/>
            <a:ext cx="5476875" cy="265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5"/>
          <p:cNvSpPr txBox="1"/>
          <p:nvPr/>
        </p:nvSpPr>
        <p:spPr>
          <a:xfrm>
            <a:off x="2062460" y="1476077"/>
            <a:ext cx="253900" cy="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4315122" y="1476077"/>
            <a:ext cx="253900" cy="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6908303" y="1476077"/>
            <a:ext cx="253900" cy="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9100542" y="1476077"/>
            <a:ext cx="253900" cy="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/>
          </a:p>
        </p:txBody>
      </p:sp>
      <p:pic>
        <p:nvPicPr>
          <p:cNvPr id="170" name="Google Shape;17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19497" y="1398091"/>
            <a:ext cx="257175" cy="20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648176" y="1398091"/>
            <a:ext cx="180975" cy="20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356353" y="1398091"/>
            <a:ext cx="200025" cy="20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76275" y="4028033"/>
            <a:ext cx="2167681" cy="325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38900" y="4028033"/>
            <a:ext cx="2053679" cy="325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23887" y="4094708"/>
            <a:ext cx="200025" cy="17784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5"/>
          <p:cNvSpPr txBox="1"/>
          <p:nvPr/>
        </p:nvSpPr>
        <p:spPr>
          <a:xfrm>
            <a:off x="904875" y="4448472"/>
            <a:ext cx="48482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Transitions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e_t = (s_t, a_t, r_t, s_{t+1})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stored in a cyclic memory buffer.</a:t>
            </a:r>
            <a:endParaRPr/>
          </a:p>
        </p:txBody>
      </p:sp>
      <p:sp>
        <p:nvSpPr>
          <p:cNvPr id="177" name="Google Shape;177;p15"/>
          <p:cNvSpPr txBox="1"/>
          <p:nvPr/>
        </p:nvSpPr>
        <p:spPr>
          <a:xfrm>
            <a:off x="904875" y="5202733"/>
            <a:ext cx="48482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Prevents immediate deletion of valuable past state-action-reward experiences.</a:t>
            </a:r>
            <a:endParaRPr/>
          </a:p>
        </p:txBody>
      </p:sp>
      <p:pic>
        <p:nvPicPr>
          <p:cNvPr id="178" name="Google Shape;178;p1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396037" y="4101702"/>
            <a:ext cx="180975" cy="17784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5"/>
          <p:cNvSpPr txBox="1"/>
          <p:nvPr/>
        </p:nvSpPr>
        <p:spPr>
          <a:xfrm>
            <a:off x="6667500" y="4448472"/>
            <a:ext cx="4848225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Decorrelates Samples: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Sampling random mini-batches breaks temporal correlations between consecutive steps.</a:t>
            </a:r>
            <a:endParaRPr/>
          </a:p>
        </p:txBody>
      </p:sp>
      <p:sp>
        <p:nvSpPr>
          <p:cNvPr id="180" name="Google Shape;180;p15"/>
          <p:cNvSpPr txBox="1"/>
          <p:nvPr/>
        </p:nvSpPr>
        <p:spPr>
          <a:xfrm>
            <a:off x="6667500" y="5522714"/>
            <a:ext cx="48482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Efficiency: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Allows individual experience transitions to be reused in multiple gradient updates.</a:t>
            </a:r>
            <a:endParaRPr/>
          </a:p>
        </p:txBody>
      </p:sp>
      <p:sp>
        <p:nvSpPr>
          <p:cNvPr id="181" name="Google Shape;181;p15"/>
          <p:cNvSpPr txBox="1"/>
          <p:nvPr/>
        </p:nvSpPr>
        <p:spPr>
          <a:xfrm>
            <a:off x="676275" y="4448472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182" name="Google Shape;182;p15"/>
          <p:cNvSpPr txBox="1"/>
          <p:nvPr/>
        </p:nvSpPr>
        <p:spPr>
          <a:xfrm>
            <a:off x="676275" y="5202733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183" name="Google Shape;183;p15"/>
          <p:cNvSpPr txBox="1"/>
          <p:nvPr/>
        </p:nvSpPr>
        <p:spPr>
          <a:xfrm>
            <a:off x="6438900" y="4448472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6438900" y="5522714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476250" y="381000"/>
            <a:ext cx="11715750" cy="51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 dirty="0">
                <a:solidFill>
                  <a:srgbClr val="1E3A8A"/>
                </a:solidFill>
                <a:latin typeface="Batang"/>
                <a:ea typeface="Batang"/>
                <a:cs typeface="Batang"/>
                <a:sym typeface="Batang"/>
              </a:rPr>
              <a:t>Experience Replay Buffer</a:t>
            </a:r>
            <a:endParaRPr dirty="0"/>
          </a:p>
        </p:txBody>
      </p:sp>
      <p:sp>
        <p:nvSpPr>
          <p:cNvPr id="186" name="Google Shape;186;p15"/>
          <p:cNvSpPr/>
          <p:nvPr/>
        </p:nvSpPr>
        <p:spPr>
          <a:xfrm>
            <a:off x="476250" y="883741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093291"/>
            <a:ext cx="5476875" cy="5882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22027" y="1839366"/>
            <a:ext cx="3985170" cy="551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22027" y="2936527"/>
            <a:ext cx="3985170" cy="551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22027" y="4033688"/>
            <a:ext cx="3985170" cy="551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22027" y="4984849"/>
            <a:ext cx="3985170" cy="551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22027" y="6082010"/>
            <a:ext cx="3985170" cy="551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38875" y="1736228"/>
            <a:ext cx="5476875" cy="211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238875" y="3994398"/>
            <a:ext cx="5476875" cy="233853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6"/>
          <p:cNvSpPr txBox="1"/>
          <p:nvPr/>
        </p:nvSpPr>
        <p:spPr>
          <a:xfrm>
            <a:off x="723900" y="1340941"/>
            <a:ext cx="4981575" cy="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 Network Architecture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723900" y="2485727"/>
            <a:ext cx="4981575" cy="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endParaRPr/>
          </a:p>
        </p:txBody>
      </p:sp>
      <p:sp>
        <p:nvSpPr>
          <p:cNvPr id="202" name="Google Shape;202;p16"/>
          <p:cNvSpPr txBox="1"/>
          <p:nvPr/>
        </p:nvSpPr>
        <p:spPr>
          <a:xfrm>
            <a:off x="723900" y="3582888"/>
            <a:ext cx="4981575" cy="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endParaRPr/>
          </a:p>
        </p:txBody>
      </p:sp>
      <p:sp>
        <p:nvSpPr>
          <p:cNvPr id="203" name="Google Shape;203;p16"/>
          <p:cNvSpPr/>
          <p:nvPr/>
        </p:nvSpPr>
        <p:spPr>
          <a:xfrm>
            <a:off x="723900" y="4775299"/>
            <a:ext cx="4981575" cy="19050"/>
          </a:xfrm>
          <a:prstGeom prst="rect">
            <a:avLst/>
          </a:prstGeom>
          <a:noFill/>
          <a:ln w="1905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723900" y="5631209"/>
            <a:ext cx="4981575" cy="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endParaRPr/>
          </a:p>
        </p:txBody>
      </p:sp>
      <p:pic>
        <p:nvPicPr>
          <p:cNvPr id="205" name="Google Shape;205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38900" y="1945778"/>
            <a:ext cx="2167086" cy="32518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6"/>
          <p:cNvSpPr txBox="1"/>
          <p:nvPr/>
        </p:nvSpPr>
        <p:spPr>
          <a:xfrm>
            <a:off x="6438900" y="2366218"/>
            <a:ext cx="5076825" cy="604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Network (θ):</a:t>
            </a:r>
            <a:r>
              <a:rPr lang="en-US" sz="17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Updated continuously at every training step via gradient descent.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6438900" y="3046958"/>
            <a:ext cx="5076825" cy="604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Network (θ⁻):</a:t>
            </a:r>
            <a:r>
              <a:rPr lang="en-US" sz="1700" b="0" i="0" u="none" strike="noStrike" cap="none" dirty="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Kept frozen and updated periodically (every C steps) to copy online weights.</a:t>
            </a:r>
            <a:endParaRPr dirty="0"/>
          </a:p>
        </p:txBody>
      </p:sp>
      <p:pic>
        <p:nvPicPr>
          <p:cNvPr id="208" name="Google Shape;208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38900" y="4203948"/>
            <a:ext cx="2068264" cy="325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348412" y="1988344"/>
            <a:ext cx="180975" cy="177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6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348412" y="4286176"/>
            <a:ext cx="180975" cy="17784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6"/>
          <p:cNvSpPr txBox="1"/>
          <p:nvPr/>
        </p:nvSpPr>
        <p:spPr>
          <a:xfrm>
            <a:off x="6667500" y="4624387"/>
            <a:ext cx="48482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Fixes target values to prevent non-stationary policy convergence oscillations.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6667500" y="5378648"/>
            <a:ext cx="48482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Eliminates harmful feedback loops between action-value prediction and target evaluation.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6438900" y="4624387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214" name="Google Shape;214;p16"/>
          <p:cNvSpPr txBox="1"/>
          <p:nvPr/>
        </p:nvSpPr>
        <p:spPr>
          <a:xfrm>
            <a:off x="6438900" y="5378648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215" name="Google Shape;215;p16"/>
          <p:cNvSpPr txBox="1"/>
          <p:nvPr/>
        </p:nvSpPr>
        <p:spPr>
          <a:xfrm>
            <a:off x="476250" y="381000"/>
            <a:ext cx="11715750" cy="51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 dirty="0">
                <a:solidFill>
                  <a:srgbClr val="1E3A8A"/>
                </a:solidFill>
                <a:latin typeface="Batang"/>
                <a:ea typeface="Batang"/>
                <a:cs typeface="Batang"/>
                <a:sym typeface="Batang"/>
              </a:rPr>
              <a:t>Target Network Stabilization</a:t>
            </a:r>
            <a:endParaRPr dirty="0"/>
          </a:p>
        </p:txBody>
      </p:sp>
      <p:sp>
        <p:nvSpPr>
          <p:cNvPr id="216" name="Google Shape;216;p16"/>
          <p:cNvSpPr/>
          <p:nvPr/>
        </p:nvSpPr>
        <p:spPr>
          <a:xfrm>
            <a:off x="476250" y="883741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093291"/>
            <a:ext cx="5476875" cy="4263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093291"/>
            <a:ext cx="5476875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3388816"/>
            <a:ext cx="5476875" cy="1967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98443" y="1866155"/>
            <a:ext cx="1582935" cy="474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25780" y="1866155"/>
            <a:ext cx="1143000" cy="474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3181" y="1866155"/>
            <a:ext cx="1143000" cy="474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065764" y="2483941"/>
            <a:ext cx="1699766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051280" y="2483941"/>
            <a:ext cx="1837432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76275" y="1302841"/>
            <a:ext cx="2461021" cy="325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37586" y="1376510"/>
            <a:ext cx="180975" cy="17784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7"/>
          <p:cNvSpPr txBox="1"/>
          <p:nvPr/>
        </p:nvSpPr>
        <p:spPr>
          <a:xfrm>
            <a:off x="904875" y="1723280"/>
            <a:ext cx="4848225" cy="105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Space (4D Vector):</a:t>
            </a:r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904875" y="2888307"/>
            <a:ext cx="484822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Actions: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Apply Force Left (-1) or Right (+1).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904875" y="3322587"/>
            <a:ext cx="48482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Reward: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+1 for every timestep pole remains balanced.</a:t>
            </a:r>
            <a:endParaRPr/>
          </a:p>
        </p:txBody>
      </p:sp>
      <p:sp>
        <p:nvSpPr>
          <p:cNvPr id="235" name="Google Shape;235;p17"/>
          <p:cNvSpPr txBox="1"/>
          <p:nvPr/>
        </p:nvSpPr>
        <p:spPr>
          <a:xfrm>
            <a:off x="904875" y="4076848"/>
            <a:ext cx="484822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Keep pole upright indefinitely.</a:t>
            </a:r>
            <a:endParaRPr/>
          </a:p>
        </p:txBody>
      </p:sp>
      <p:pic>
        <p:nvPicPr>
          <p:cNvPr id="236" name="Google Shape;236;p17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873305" y="1302841"/>
            <a:ext cx="2207865" cy="325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7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438900" y="3598366"/>
            <a:ext cx="2226022" cy="32518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7"/>
          <p:cNvSpPr txBox="1"/>
          <p:nvPr/>
        </p:nvSpPr>
        <p:spPr>
          <a:xfrm>
            <a:off x="6438900" y="4018805"/>
            <a:ext cx="5076825" cy="568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-US" sz="1599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Autonomous Mobile Robots:</a:t>
            </a:r>
            <a:r>
              <a:rPr lang="en-US" sz="1599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Warehouse navigation and trajectory planning.</a:t>
            </a:r>
            <a:endParaRPr/>
          </a:p>
        </p:txBody>
      </p:sp>
      <p:sp>
        <p:nvSpPr>
          <p:cNvPr id="239" name="Google Shape;239;p17"/>
          <p:cNvSpPr txBox="1"/>
          <p:nvPr/>
        </p:nvSpPr>
        <p:spPr>
          <a:xfrm>
            <a:off x="6438900" y="4587626"/>
            <a:ext cx="5076825" cy="568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-US" sz="1599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Industrial Control:</a:t>
            </a:r>
            <a:r>
              <a:rPr lang="en-US" sz="1599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HVAC, manufacturing, and dynamic process tuning.</a:t>
            </a:r>
            <a:endParaRPr/>
          </a:p>
        </p:txBody>
      </p:sp>
      <p:sp>
        <p:nvSpPr>
          <p:cNvPr id="240" name="Google Shape;240;p17"/>
          <p:cNvSpPr txBox="1"/>
          <p:nvPr/>
        </p:nvSpPr>
        <p:spPr>
          <a:xfrm>
            <a:off x="676275" y="1723280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241" name="Google Shape;241;p17"/>
          <p:cNvSpPr txBox="1"/>
          <p:nvPr/>
        </p:nvSpPr>
        <p:spPr>
          <a:xfrm>
            <a:off x="676275" y="2888307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242" name="Google Shape;242;p17"/>
          <p:cNvSpPr txBox="1"/>
          <p:nvPr/>
        </p:nvSpPr>
        <p:spPr>
          <a:xfrm>
            <a:off x="676275" y="3322587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243" name="Google Shape;243;p17"/>
          <p:cNvSpPr txBox="1"/>
          <p:nvPr/>
        </p:nvSpPr>
        <p:spPr>
          <a:xfrm>
            <a:off x="676275" y="4076848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pic>
        <p:nvPicPr>
          <p:cNvPr id="244" name="Google Shape;244;p17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825159" y="1376510"/>
            <a:ext cx="180975" cy="177849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7"/>
          <p:cNvSpPr txBox="1"/>
          <p:nvPr/>
        </p:nvSpPr>
        <p:spPr>
          <a:xfrm>
            <a:off x="8276629" y="1925835"/>
            <a:ext cx="253900" cy="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/>
          </a:p>
        </p:txBody>
      </p:sp>
      <p:sp>
        <p:nvSpPr>
          <p:cNvPr id="246" name="Google Shape;246;p17"/>
          <p:cNvSpPr txBox="1"/>
          <p:nvPr/>
        </p:nvSpPr>
        <p:spPr>
          <a:xfrm>
            <a:off x="9864030" y="1925835"/>
            <a:ext cx="253900" cy="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/>
          </a:p>
        </p:txBody>
      </p:sp>
      <p:pic>
        <p:nvPicPr>
          <p:cNvPr id="247" name="Google Shape;247;p17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381750" y="3670832"/>
            <a:ext cx="200025" cy="17784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7"/>
          <p:cNvSpPr txBox="1"/>
          <p:nvPr/>
        </p:nvSpPr>
        <p:spPr>
          <a:xfrm>
            <a:off x="1276350" y="2090886"/>
            <a:ext cx="4476750" cy="28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Cart Position &amp; Cart Velocity</a:t>
            </a:r>
            <a:endParaRPr/>
          </a:p>
        </p:txBody>
      </p:sp>
      <p:sp>
        <p:nvSpPr>
          <p:cNvPr id="249" name="Google Shape;249;p17"/>
          <p:cNvSpPr txBox="1"/>
          <p:nvPr/>
        </p:nvSpPr>
        <p:spPr>
          <a:xfrm>
            <a:off x="1276350" y="2489596"/>
            <a:ext cx="4476750" cy="28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Pole Angle &amp; Pole Angular Velocity</a:t>
            </a:r>
            <a:endParaRPr/>
          </a:p>
        </p:txBody>
      </p:sp>
      <p:sp>
        <p:nvSpPr>
          <p:cNvPr id="250" name="Google Shape;250;p17"/>
          <p:cNvSpPr txBox="1"/>
          <p:nvPr/>
        </p:nvSpPr>
        <p:spPr>
          <a:xfrm>
            <a:off x="1047750" y="2090886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251" name="Google Shape;251;p17"/>
          <p:cNvSpPr txBox="1"/>
          <p:nvPr/>
        </p:nvSpPr>
        <p:spPr>
          <a:xfrm>
            <a:off x="1047750" y="2489596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252" name="Google Shape;252;p17"/>
          <p:cNvSpPr txBox="1"/>
          <p:nvPr/>
        </p:nvSpPr>
        <p:spPr>
          <a:xfrm>
            <a:off x="476250" y="381000"/>
            <a:ext cx="11715750" cy="51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 dirty="0">
                <a:solidFill>
                  <a:srgbClr val="1E3A8A"/>
                </a:solidFill>
                <a:latin typeface="Batang"/>
                <a:ea typeface="Batang"/>
                <a:cs typeface="Batang"/>
                <a:sym typeface="Batang"/>
              </a:rPr>
              <a:t>Classic Example: </a:t>
            </a:r>
            <a:r>
              <a:rPr lang="en-US" sz="2799" b="1" i="0" u="none" strike="noStrike" cap="none" dirty="0" err="1">
                <a:solidFill>
                  <a:srgbClr val="1E3A8A"/>
                </a:solidFill>
                <a:latin typeface="Batang"/>
                <a:ea typeface="Batang"/>
                <a:cs typeface="Batang"/>
                <a:sym typeface="Batang"/>
              </a:rPr>
              <a:t>CartPole</a:t>
            </a:r>
            <a:r>
              <a:rPr lang="en-US" sz="2799" b="1" i="0" u="none" strike="noStrike" cap="none" dirty="0">
                <a:solidFill>
                  <a:srgbClr val="1E3A8A"/>
                </a:solidFill>
                <a:latin typeface="Batang"/>
                <a:ea typeface="Batang"/>
                <a:cs typeface="Batang"/>
                <a:sym typeface="Batang"/>
              </a:rPr>
              <a:t> &amp; Robotics</a:t>
            </a:r>
            <a:endParaRPr dirty="0"/>
          </a:p>
        </p:txBody>
      </p:sp>
      <p:sp>
        <p:nvSpPr>
          <p:cNvPr id="253" name="Google Shape;253;p17"/>
          <p:cNvSpPr/>
          <p:nvPr/>
        </p:nvSpPr>
        <p:spPr>
          <a:xfrm>
            <a:off x="476250" y="883741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5458717"/>
            <a:ext cx="11239500" cy="1018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1093291"/>
            <a:ext cx="5476875" cy="2658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1093291"/>
            <a:ext cx="5476875" cy="2658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6275" y="1302841"/>
            <a:ext cx="2128986" cy="325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900" y="1302841"/>
            <a:ext cx="2132558" cy="325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3412" y="1369516"/>
            <a:ext cx="180975" cy="17784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8"/>
          <p:cNvSpPr txBox="1"/>
          <p:nvPr/>
        </p:nvSpPr>
        <p:spPr>
          <a:xfrm>
            <a:off x="904875" y="1723280"/>
            <a:ext cx="4848225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Approximation: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Combines Q-Learning with Deep Neural Networks to solve large state spaces.</a:t>
            </a:r>
            <a:endParaRPr/>
          </a:p>
        </p:txBody>
      </p:sp>
      <p:sp>
        <p:nvSpPr>
          <p:cNvPr id="266" name="Google Shape;266;p18"/>
          <p:cNvSpPr txBox="1"/>
          <p:nvPr/>
        </p:nvSpPr>
        <p:spPr>
          <a:xfrm>
            <a:off x="904875" y="2797522"/>
            <a:ext cx="48482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Efficiency: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Experience Replay breaks sample correlation and reuses past transitions.</a:t>
            </a:r>
            <a:endParaRPr/>
          </a:p>
        </p:txBody>
      </p:sp>
      <p:pic>
        <p:nvPicPr>
          <p:cNvPr id="267" name="Google Shape;267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393239" y="1369516"/>
            <a:ext cx="180975" cy="17784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8"/>
          <p:cNvSpPr txBox="1"/>
          <p:nvPr/>
        </p:nvSpPr>
        <p:spPr>
          <a:xfrm>
            <a:off x="6667500" y="1723280"/>
            <a:ext cx="48482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Stable Convergence: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Target Networks remove moving target instabilities during gradient updates.</a:t>
            </a:r>
            <a:endParaRPr/>
          </a:p>
        </p:txBody>
      </p:sp>
      <p:sp>
        <p:nvSpPr>
          <p:cNvPr id="269" name="Google Shape;269;p18"/>
          <p:cNvSpPr txBox="1"/>
          <p:nvPr/>
        </p:nvSpPr>
        <p:spPr>
          <a:xfrm>
            <a:off x="6667500" y="2477541"/>
            <a:ext cx="48482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Scalability: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Overcomes state-explosion limits inherent in classic tabular Q-learning.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676275" y="1723280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271" name="Google Shape;271;p18"/>
          <p:cNvSpPr txBox="1"/>
          <p:nvPr/>
        </p:nvSpPr>
        <p:spPr>
          <a:xfrm>
            <a:off x="676275" y="2797522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272" name="Google Shape;272;p18"/>
          <p:cNvSpPr txBox="1"/>
          <p:nvPr/>
        </p:nvSpPr>
        <p:spPr>
          <a:xfrm>
            <a:off x="6438900" y="1723280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273" name="Google Shape;273;p18"/>
          <p:cNvSpPr txBox="1"/>
          <p:nvPr/>
        </p:nvSpPr>
        <p:spPr>
          <a:xfrm>
            <a:off x="6438900" y="2477541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274" name="Google Shape;274;p18"/>
          <p:cNvSpPr txBox="1"/>
          <p:nvPr/>
        </p:nvSpPr>
        <p:spPr>
          <a:xfrm>
            <a:off x="476250" y="381000"/>
            <a:ext cx="11715750" cy="51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 dirty="0">
                <a:solidFill>
                  <a:srgbClr val="1E3A8A"/>
                </a:solidFill>
                <a:latin typeface="Batang"/>
                <a:ea typeface="Batang"/>
                <a:cs typeface="Batang"/>
                <a:sym typeface="Batang"/>
              </a:rPr>
              <a:t>Deep Q-Networks: Key Takeaways</a:t>
            </a:r>
            <a:endParaRPr dirty="0"/>
          </a:p>
        </p:txBody>
      </p:sp>
      <p:sp>
        <p:nvSpPr>
          <p:cNvPr id="275" name="Google Shape;275;p18"/>
          <p:cNvSpPr/>
          <p:nvPr/>
        </p:nvSpPr>
        <p:spPr>
          <a:xfrm>
            <a:off x="476250" y="883741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496</Words>
  <Application>Microsoft Office PowerPoint</Application>
  <PresentationFormat>Widescreen</PresentationFormat>
  <Paragraphs>88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Batang</vt:lpstr>
      <vt:lpstr>Arial</vt:lpstr>
      <vt:lpstr>Calibri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Sirivally Singari</cp:lastModifiedBy>
  <cp:revision>1</cp:revision>
  <dcterms:modified xsi:type="dcterms:W3CDTF">2026-08-18T08:28:14Z</dcterms:modified>
</cp:coreProperties>
</file>