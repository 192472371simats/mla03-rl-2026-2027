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9258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27F0CB-3372-D177-E5B5-FB89B56AA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71" y="137658"/>
            <a:ext cx="1440542" cy="1343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6DEAFC-C652-7FC4-C1FF-A1278F2460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6"/>
          <a:stretch>
            <a:fillRect/>
          </a:stretch>
        </p:blipFill>
        <p:spPr>
          <a:xfrm>
            <a:off x="10452781" y="137658"/>
            <a:ext cx="1526223" cy="1343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64D6BF-E3EF-56FE-C6B5-5BBA01FC958F}"/>
              </a:ext>
            </a:extLst>
          </p:cNvPr>
          <p:cNvSpPr txBox="1"/>
          <p:nvPr/>
        </p:nvSpPr>
        <p:spPr>
          <a:xfrm>
            <a:off x="3469340" y="25056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111827"/>
                </a:solidFill>
                <a:highlight>
                  <a:srgbClr val="E9E9E9"/>
                </a:highlight>
                <a:latin typeface="Batang"/>
                <a:ea typeface="Batang"/>
              </a:rPr>
              <a:t>MLA0301 - REINFORCEMENT LEARNING</a:t>
            </a:r>
            <a:endParaRPr lang="en-US" dirty="0">
              <a:latin typeface="Batang"/>
              <a:ea typeface="Batang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267B5-402C-503B-7FC4-9E943B420072}"/>
              </a:ext>
            </a:extLst>
          </p:cNvPr>
          <p:cNvSpPr txBox="1"/>
          <p:nvPr/>
        </p:nvSpPr>
        <p:spPr>
          <a:xfrm>
            <a:off x="2088776" y="3317914"/>
            <a:ext cx="76468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latin typeface="Batang" pitchFamily="34" charset="0"/>
                <a:ea typeface="Batang" pitchFamily="34" charset="-122"/>
                <a:cs typeface="Batang" pitchFamily="34" charset="-120"/>
              </a:rPr>
              <a:t>Dynamic Programming for Sequential Decision-Making in Reinforcement Learning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7E66E0-7CCB-894C-F1CF-8E0624AA4E30}"/>
              </a:ext>
            </a:extLst>
          </p:cNvPr>
          <p:cNvSpPr txBox="1"/>
          <p:nvPr/>
        </p:nvSpPr>
        <p:spPr>
          <a:xfrm>
            <a:off x="1057835" y="5065977"/>
            <a:ext cx="6096000" cy="873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ct val="150000"/>
              </a:lnSpc>
              <a:buNone/>
            </a:pPr>
            <a:r>
              <a:rPr lang="en-US" sz="1800" b="0" i="0" u="none" strike="noStrike" dirty="0">
                <a:solidFill>
                  <a:srgbClr val="414B5A"/>
                </a:solidFill>
                <a:effectLst/>
                <a:latin typeface="Times New Roman" panose="02020603050405020304" pitchFamily="18" charset="0"/>
              </a:rPr>
              <a:t>Guided by: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ct val="150000"/>
              </a:lnSpc>
              <a:buNone/>
            </a:pPr>
            <a:r>
              <a:rPr lang="en-US" sz="1800" b="0" i="0" u="none" strike="noStrike" dirty="0">
                <a:solidFill>
                  <a:srgbClr val="414B5A"/>
                </a:solidFill>
                <a:effectLst/>
                <a:latin typeface="Times New Roman" panose="02020603050405020304" pitchFamily="18" charset="0"/>
              </a:rPr>
              <a:t>Dr. Senthil G 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40FCE4-ADF6-40D8-18A1-F5185BC53628}"/>
              </a:ext>
            </a:extLst>
          </p:cNvPr>
          <p:cNvSpPr txBox="1"/>
          <p:nvPr/>
        </p:nvSpPr>
        <p:spPr>
          <a:xfrm>
            <a:off x="8012274" y="4918195"/>
            <a:ext cx="6096000" cy="873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ct val="150000"/>
              </a:lnSpc>
              <a:buNone/>
            </a:pPr>
            <a:r>
              <a:rPr lang="en-US" sz="1800" b="0" i="0" u="none" strike="noStrike" dirty="0">
                <a:solidFill>
                  <a:srgbClr val="414B5A"/>
                </a:solidFill>
                <a:effectLst/>
                <a:latin typeface="Times New Roman" panose="02020603050405020304" pitchFamily="18" charset="0"/>
              </a:rPr>
              <a:t>Presented by: 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ct val="150000"/>
              </a:lnSpc>
              <a:buNone/>
            </a:pPr>
            <a:r>
              <a:rPr lang="en-US" sz="1800" b="0" i="0" u="none" strike="noStrike" dirty="0">
                <a:solidFill>
                  <a:srgbClr val="414B5A"/>
                </a:solidFill>
                <a:effectLst/>
                <a:latin typeface="Times New Roman" panose="02020603050405020304" pitchFamily="18" charset="0"/>
              </a:rPr>
              <a:t>S. Sirivally (192472371)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7AC93-35A1-BF7B-B063-9B87F064EE2E}"/>
              </a:ext>
            </a:extLst>
          </p:cNvPr>
          <p:cNvSpPr txBox="1"/>
          <p:nvPr/>
        </p:nvSpPr>
        <p:spPr>
          <a:xfrm>
            <a:off x="2568389" y="404591"/>
            <a:ext cx="7055222" cy="1090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800" spc="-25" dirty="0">
                <a:latin typeface="Times New Roman"/>
                <a:cs typeface="Times New Roman"/>
              </a:rPr>
              <a:t>SIMATS</a:t>
            </a:r>
            <a:r>
              <a:rPr lang="en-IN" sz="2800" spc="-125" dirty="0">
                <a:latin typeface="Times New Roman"/>
                <a:cs typeface="Times New Roman"/>
              </a:rPr>
              <a:t>  </a:t>
            </a:r>
            <a:r>
              <a:rPr lang="en-IN" sz="2800" spc="-10" dirty="0">
                <a:latin typeface="Times New Roman"/>
                <a:cs typeface="Times New Roman"/>
              </a:rPr>
              <a:t>ENGINEERING</a:t>
            </a:r>
          </a:p>
          <a:p>
            <a:pPr marL="12700" algn="ctr">
              <a:spcBef>
                <a:spcPts val="100"/>
              </a:spcBef>
            </a:pPr>
            <a:r>
              <a:rPr lang="en-US" sz="1800" b="1" spc="-55" dirty="0">
                <a:latin typeface="Times New Roman"/>
                <a:cs typeface="Times New Roman"/>
              </a:rPr>
              <a:t>SAVEETHA</a:t>
            </a:r>
            <a:r>
              <a:rPr lang="en-US" sz="1800" b="1" spc="-110" dirty="0"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latin typeface="Times New Roman"/>
                <a:cs typeface="Times New Roman"/>
              </a:rPr>
              <a:t>INSTITUTE</a:t>
            </a:r>
            <a:r>
              <a:rPr lang="en-US" sz="1800" b="1" dirty="0">
                <a:latin typeface="Times New Roman"/>
                <a:cs typeface="Times New Roman"/>
              </a:rPr>
              <a:t> OF</a:t>
            </a:r>
            <a:r>
              <a:rPr lang="en-US" sz="1800" b="1" spc="-75" dirty="0">
                <a:latin typeface="Times New Roman"/>
                <a:cs typeface="Times New Roman"/>
              </a:rPr>
              <a:t> </a:t>
            </a:r>
            <a:r>
              <a:rPr lang="en-US" sz="1800" b="1" spc="-25" dirty="0">
                <a:latin typeface="Times New Roman"/>
                <a:cs typeface="Times New Roman"/>
              </a:rPr>
              <a:t>MEDICAL </a:t>
            </a:r>
            <a:r>
              <a:rPr lang="en-US" sz="1800" b="1" spc="-220" dirty="0">
                <a:latin typeface="Times New Roman"/>
                <a:cs typeface="Times New Roman"/>
              </a:rPr>
              <a:t> </a:t>
            </a:r>
            <a:r>
              <a:rPr lang="en-US" sz="1800" b="1" spc="-25" dirty="0">
                <a:latin typeface="Times New Roman"/>
                <a:cs typeface="Times New Roman"/>
              </a:rPr>
              <a:t>AND TECHNICAL</a:t>
            </a:r>
            <a:r>
              <a:rPr lang="en-US" sz="1800" b="1" spc="-55" dirty="0"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latin typeface="Times New Roman"/>
                <a:cs typeface="Times New Roman"/>
              </a:rPr>
              <a:t>SCIENCES</a:t>
            </a:r>
          </a:p>
        </p:txBody>
      </p:sp>
    </p:spTree>
    <p:extLst>
      <p:ext uri="{BB962C8B-B14F-4D97-AF65-F5344CB8AC3E}">
        <p14:creationId xmlns:p14="http://schemas.microsoft.com/office/powerpoint/2010/main" val="1172705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6D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Dynamic Programming for Sequential Decision-Making in Reinforcement 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 Programming (DP): a model-based method for solving multi-step decision problems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Useful in RL because it computes optimal actions using a known environment model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Sequential decision-making: each action affects future states and rewards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Grounded in the Bellman Principle of Optimality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Solved through Policy Evaluation and Policy Improvement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core algorithms: Value Iteration and Policy Iteration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68112" cy="4892040"/>
          </a:xfrm>
          <a:prstGeom prst="roundRect">
            <a:avLst>
              <a:gd name="adj" fmla="val 1495"/>
            </a:avLst>
          </a:prstGeom>
          <a:solidFill>
            <a:srgbClr val="FBFEFE"/>
          </a:solidFill>
          <a:ln w="12700">
            <a:solidFill>
              <a:srgbClr val="1C8C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627632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5D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RL Decision Loop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63256" y="2240280"/>
            <a:ext cx="2468880" cy="548640"/>
          </a:xfrm>
          <a:prstGeom prst="roundRect">
            <a:avLst>
              <a:gd name="adj" fmla="val 11667"/>
            </a:avLst>
          </a:prstGeom>
          <a:solidFill>
            <a:srgbClr val="EAF6F7"/>
          </a:solidFill>
          <a:ln w="15875">
            <a:solidFill>
              <a:srgbClr val="1C8C99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99832" y="224028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97696" y="2788920"/>
            <a:ext cx="914" cy="384048"/>
          </a:xfrm>
          <a:prstGeom prst="line">
            <a:avLst/>
          </a:prstGeom>
          <a:noFill/>
          <a:ln w="25400">
            <a:solidFill>
              <a:srgbClr val="1C8C9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763256" y="3172968"/>
            <a:ext cx="2468880" cy="548640"/>
          </a:xfrm>
          <a:prstGeom prst="roundRect">
            <a:avLst>
              <a:gd name="adj" fmla="val 11667"/>
            </a:avLst>
          </a:prstGeom>
          <a:solidFill>
            <a:srgbClr val="EAF6F7"/>
          </a:solidFill>
          <a:ln w="15875">
            <a:solidFill>
              <a:srgbClr val="E8823D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99832" y="3172968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97696" y="3721608"/>
            <a:ext cx="914" cy="384048"/>
          </a:xfrm>
          <a:prstGeom prst="line">
            <a:avLst/>
          </a:prstGeom>
          <a:noFill/>
          <a:ln w="25400">
            <a:solidFill>
              <a:srgbClr val="1C8C9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63256" y="4105656"/>
            <a:ext cx="2468880" cy="548640"/>
          </a:xfrm>
          <a:prstGeom prst="roundRect">
            <a:avLst>
              <a:gd name="adj" fmla="val 11667"/>
            </a:avLst>
          </a:prstGeom>
          <a:solidFill>
            <a:srgbClr val="EAF6F7"/>
          </a:solidFill>
          <a:ln w="15875">
            <a:solidFill>
              <a:srgbClr val="1C8C99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99832" y="4105656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REWARD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97696" y="4654296"/>
            <a:ext cx="914" cy="384048"/>
          </a:xfrm>
          <a:prstGeom prst="line">
            <a:avLst/>
          </a:prstGeom>
          <a:noFill/>
          <a:ln w="25400">
            <a:solidFill>
              <a:srgbClr val="1C8C9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63256" y="5038344"/>
            <a:ext cx="2468880" cy="548640"/>
          </a:xfrm>
          <a:prstGeom prst="roundRect">
            <a:avLst>
              <a:gd name="adj" fmla="val 11667"/>
            </a:avLst>
          </a:prstGeom>
          <a:solidFill>
            <a:srgbClr val="EAF6F7"/>
          </a:solidFill>
          <a:ln w="15875">
            <a:solidFill>
              <a:srgbClr val="E8823D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99832" y="5038344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STATE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232136" y="5312664"/>
            <a:ext cx="411480" cy="914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43616" y="2514600"/>
            <a:ext cx="914" cy="2798064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10232136" y="2514600"/>
            <a:ext cx="411480" cy="914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689336" y="36393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repeats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5B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step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88936" y="6016752"/>
            <a:ext cx="3017520" cy="502920"/>
          </a:xfrm>
          <a:prstGeom prst="roundRect">
            <a:avLst>
              <a:gd name="adj" fmla="val 12727"/>
            </a:avLst>
          </a:prstGeom>
          <a:solidFill>
            <a:srgbClr val="FFF3E9"/>
          </a:solidFill>
          <a:ln w="15875">
            <a:solidFill>
              <a:srgbClr val="E8823D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25512" y="601675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Connects to Bellman-Based Decision Making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5D6D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The Bellman Principle of Optimality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optimal decision is composed of optimal decisions from all future states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current value of a state depends on its immediate reward plus the value of future states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discount factor γ controls how much future rewards matter compared to immediate ones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42062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3E9"/>
          </a:solidFill>
          <a:ln w="19050">
            <a:solidFill>
              <a:srgbClr val="E882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206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5D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V(s)  =  maxₐ [ R(s,a)  +  γ V(s') 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63640" y="1325880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5D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× 3 Grid World Example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88936" y="1828800"/>
            <a:ext cx="1005840" cy="1005840"/>
          </a:xfrm>
          <a:prstGeom prst="rect">
            <a:avLst/>
          </a:prstGeom>
          <a:solidFill>
            <a:srgbClr val="EAF6F7"/>
          </a:solidFill>
          <a:ln w="15875">
            <a:solidFill>
              <a:srgbClr val="1C8C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94776" y="1828800"/>
            <a:ext cx="100584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C7D6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0616" y="1828800"/>
            <a:ext cx="100584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C7D6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8936" y="2834640"/>
            <a:ext cx="100584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C7D6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94776" y="2834640"/>
            <a:ext cx="100584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C7D6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0616" y="2834640"/>
            <a:ext cx="100584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C7D6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88936" y="3840480"/>
            <a:ext cx="100584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C7D6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94776" y="3840480"/>
            <a:ext cx="100584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C7D6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0616" y="3840480"/>
            <a:ext cx="1005840" cy="1005840"/>
          </a:xfrm>
          <a:prstGeom prst="rect">
            <a:avLst/>
          </a:prstGeom>
          <a:solidFill>
            <a:srgbClr val="FFF3E9"/>
          </a:solidFill>
          <a:ln w="15875">
            <a:solidFill>
              <a:srgbClr val="E882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5D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500616" y="3840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82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500616" y="2834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 = 8.5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49640" y="2331720"/>
            <a:ext cx="393192" cy="914"/>
          </a:xfrm>
          <a:prstGeom prst="line">
            <a:avLst/>
          </a:prstGeom>
          <a:noFill/>
          <a:ln w="28575">
            <a:solidFill>
              <a:srgbClr val="0B5D6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997696" y="2441448"/>
            <a:ext cx="914" cy="786384"/>
          </a:xfrm>
          <a:prstGeom prst="line">
            <a:avLst/>
          </a:prstGeom>
          <a:noFill/>
          <a:ln w="28575">
            <a:solidFill>
              <a:srgbClr val="0B5D6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97696" y="3447288"/>
            <a:ext cx="914" cy="786384"/>
          </a:xfrm>
          <a:prstGeom prst="line">
            <a:avLst/>
          </a:prstGeom>
          <a:noFill/>
          <a:ln w="28575">
            <a:solidFill>
              <a:srgbClr val="0B5D6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07424" y="4343400"/>
            <a:ext cx="338328" cy="914"/>
          </a:xfrm>
          <a:prstGeom prst="line">
            <a:avLst/>
          </a:prstGeom>
          <a:noFill/>
          <a:ln w="28575">
            <a:solidFill>
              <a:srgbClr val="0B5D6D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263640" y="5074920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move: reward r = –1  |  Reaching GOAL: reward r = +10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5D6D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Policy Evaluation and Policy Improvement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5408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EVALUATION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323076" y="1325880"/>
            <a:ext cx="5408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82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IMPROVEMENT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214415" y="1828800"/>
            <a:ext cx="3894247" cy="457200"/>
          </a:xfrm>
          <a:prstGeom prst="roundRect">
            <a:avLst>
              <a:gd name="adj" fmla="val 14000"/>
            </a:avLst>
          </a:prstGeom>
          <a:solidFill>
            <a:srgbClr val="EAF6F7"/>
          </a:solidFill>
          <a:ln w="15875">
            <a:solidFill>
              <a:srgbClr val="1C8C99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50991" y="1828800"/>
            <a:ext cx="3821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Policy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61538" y="2286000"/>
            <a:ext cx="914" cy="201168"/>
          </a:xfrm>
          <a:prstGeom prst="line">
            <a:avLst/>
          </a:prstGeom>
          <a:noFill/>
          <a:ln w="25400">
            <a:solidFill>
              <a:srgbClr val="1C8C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214415" y="2487168"/>
            <a:ext cx="3894247" cy="457200"/>
          </a:xfrm>
          <a:prstGeom prst="roundRect">
            <a:avLst>
              <a:gd name="adj" fmla="val 14000"/>
            </a:avLst>
          </a:prstGeom>
          <a:solidFill>
            <a:srgbClr val="EAF6F7"/>
          </a:solidFill>
          <a:ln w="15875">
            <a:solidFill>
              <a:srgbClr val="1C8C99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50991" y="2487168"/>
            <a:ext cx="3821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State Values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61538" y="2944368"/>
            <a:ext cx="914" cy="201168"/>
          </a:xfrm>
          <a:prstGeom prst="line">
            <a:avLst/>
          </a:prstGeom>
          <a:noFill/>
          <a:ln w="25400">
            <a:solidFill>
              <a:srgbClr val="1C8C9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214415" y="3145536"/>
            <a:ext cx="3894247" cy="457200"/>
          </a:xfrm>
          <a:prstGeom prst="roundRect">
            <a:avLst>
              <a:gd name="adj" fmla="val 14000"/>
            </a:avLst>
          </a:prstGeom>
          <a:solidFill>
            <a:srgbClr val="EAF6F7"/>
          </a:solidFill>
          <a:ln w="15875">
            <a:solidFill>
              <a:srgbClr val="1C8C99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50991" y="3145536"/>
            <a:ext cx="3821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Estimate Expected Return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80291" y="1828800"/>
            <a:ext cx="3894247" cy="457200"/>
          </a:xfrm>
          <a:prstGeom prst="roundRect">
            <a:avLst>
              <a:gd name="adj" fmla="val 14000"/>
            </a:avLst>
          </a:prstGeom>
          <a:solidFill>
            <a:srgbClr val="EAF6F7"/>
          </a:solidFill>
          <a:ln w="15875">
            <a:solidFill>
              <a:srgbClr val="E8823D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16867" y="1828800"/>
            <a:ext cx="3821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Values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27414" y="2286000"/>
            <a:ext cx="914" cy="201168"/>
          </a:xfrm>
          <a:prstGeom prst="line">
            <a:avLst/>
          </a:prstGeom>
          <a:noFill/>
          <a:ln w="25400">
            <a:solidFill>
              <a:srgbClr val="E8823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80291" y="2487168"/>
            <a:ext cx="3894247" cy="457200"/>
          </a:xfrm>
          <a:prstGeom prst="roundRect">
            <a:avLst>
              <a:gd name="adj" fmla="val 14000"/>
            </a:avLst>
          </a:prstGeom>
          <a:solidFill>
            <a:srgbClr val="EAF6F7"/>
          </a:solidFill>
          <a:ln w="15875">
            <a:solidFill>
              <a:srgbClr val="E8823D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16867" y="2487168"/>
            <a:ext cx="3821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Available Actions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27414" y="2944368"/>
            <a:ext cx="914" cy="201168"/>
          </a:xfrm>
          <a:prstGeom prst="line">
            <a:avLst/>
          </a:prstGeom>
          <a:noFill/>
          <a:ln w="25400">
            <a:solidFill>
              <a:srgbClr val="E882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80291" y="3145536"/>
            <a:ext cx="3894247" cy="457200"/>
          </a:xfrm>
          <a:prstGeom prst="roundRect">
            <a:avLst>
              <a:gd name="adj" fmla="val 14000"/>
            </a:avLst>
          </a:prstGeom>
          <a:solidFill>
            <a:srgbClr val="EAF6F7"/>
          </a:solidFill>
          <a:ln w="15875">
            <a:solidFill>
              <a:srgbClr val="E8823D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16867" y="3145536"/>
            <a:ext cx="3821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Choose Better Action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27414" y="3602736"/>
            <a:ext cx="914" cy="201168"/>
          </a:xfrm>
          <a:prstGeom prst="line">
            <a:avLst/>
          </a:prstGeom>
          <a:noFill/>
          <a:ln w="25400">
            <a:solidFill>
              <a:srgbClr val="E8823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80291" y="3803904"/>
            <a:ext cx="3894247" cy="457200"/>
          </a:xfrm>
          <a:prstGeom prst="roundRect">
            <a:avLst>
              <a:gd name="adj" fmla="val 14000"/>
            </a:avLst>
          </a:prstGeom>
          <a:solidFill>
            <a:srgbClr val="EAF6F7"/>
          </a:solidFill>
          <a:ln w="15875">
            <a:solidFill>
              <a:srgbClr val="E8823D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16867" y="3803904"/>
            <a:ext cx="3821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Improved Policy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443984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evaluation estimates how good the current policy is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improvement selects actions that produce a better expected return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5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Repeating both steps drives the policy toward optimality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773936" y="5312664"/>
            <a:ext cx="1920240" cy="457200"/>
          </a:xfrm>
          <a:prstGeom prst="roundRect">
            <a:avLst>
              <a:gd name="adj" fmla="val 14000"/>
            </a:avLst>
          </a:prstGeom>
          <a:solidFill>
            <a:srgbClr val="EAF6F7"/>
          </a:solidFill>
          <a:ln w="15875">
            <a:solidFill>
              <a:srgbClr val="0B5D6D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810512" y="531266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94176" y="5541264"/>
            <a:ext cx="320040" cy="914"/>
          </a:xfrm>
          <a:prstGeom prst="line">
            <a:avLst/>
          </a:prstGeom>
          <a:noFill/>
          <a:ln w="25400">
            <a:solidFill>
              <a:srgbClr val="1C8C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014216" y="5312664"/>
            <a:ext cx="1920240" cy="457200"/>
          </a:xfrm>
          <a:prstGeom prst="roundRect">
            <a:avLst>
              <a:gd name="adj" fmla="val 14000"/>
            </a:avLst>
          </a:prstGeom>
          <a:solidFill>
            <a:srgbClr val="EAF6F7"/>
          </a:solidFill>
          <a:ln w="15875">
            <a:solidFill>
              <a:srgbClr val="0B5D6D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050792" y="531266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34456" y="5541264"/>
            <a:ext cx="320040" cy="914"/>
          </a:xfrm>
          <a:prstGeom prst="line">
            <a:avLst/>
          </a:prstGeom>
          <a:noFill/>
          <a:ln w="25400">
            <a:solidFill>
              <a:srgbClr val="1C8C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54496" y="5312664"/>
            <a:ext cx="1920240" cy="457200"/>
          </a:xfrm>
          <a:prstGeom prst="roundRect">
            <a:avLst>
              <a:gd name="adj" fmla="val 14000"/>
            </a:avLst>
          </a:prstGeom>
          <a:solidFill>
            <a:srgbClr val="EAF6F7"/>
          </a:solidFill>
          <a:ln w="15875">
            <a:solidFill>
              <a:srgbClr val="0B5D6D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91072" y="531266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174736" y="5541264"/>
            <a:ext cx="320040" cy="914"/>
          </a:xfrm>
          <a:prstGeom prst="line">
            <a:avLst/>
          </a:prstGeom>
          <a:noFill/>
          <a:ln w="25400">
            <a:solidFill>
              <a:srgbClr val="1C8C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494776" y="5312664"/>
            <a:ext cx="1920240" cy="457200"/>
          </a:xfrm>
          <a:prstGeom prst="roundRect">
            <a:avLst>
              <a:gd name="adj" fmla="val 14000"/>
            </a:avLst>
          </a:prstGeom>
          <a:solidFill>
            <a:srgbClr val="EAF6F7"/>
          </a:solidFill>
          <a:ln w="15875">
            <a:solidFill>
              <a:srgbClr val="0B5D6D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531352" y="531266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POLICY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974336" y="6025896"/>
            <a:ext cx="4480560" cy="914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54896" y="5769864"/>
            <a:ext cx="914" cy="256032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4974336" y="5769864"/>
            <a:ext cx="914" cy="256032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4059936" y="6053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iterate until convergence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5D6D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Value Iteration vs. Policy Iteration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21132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3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Aspect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 Iteration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Policy Iteration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Main idea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Directly updates state values using Bellman Optimality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Alternates between policy evaluation and policy improvement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 calculation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Updated every sweep, combined with improvement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Fully evaluated before each improvement step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Policy handling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Policy is extracted from the final value function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Maintains an explicit policy throughout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Number of steps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Often more sweeps, each one cheaper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Fewer outer iterations, each more costly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Computational requirement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Usually simpler to implement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Each iteration can require more computation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When useful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Large state spaces, simpler implementation needs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Small-to-medium spaces, explicit policy tracking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520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algorithms converge to the same optimal policy through repeated backups over the state space.</a:t>
            </a:r>
            <a:endParaRPr lang="en-US" sz="1300" dirty="0"/>
          </a:p>
        </p:txBody>
      </p:sp>
      <p:sp>
        <p:nvSpPr>
          <p:cNvPr id="3" name="Text 2"/>
          <p:cNvSpPr/>
          <p:nvPr/>
        </p:nvSpPr>
        <p:spPr>
          <a:xfrm>
            <a:off x="457200" y="4160520"/>
            <a:ext cx="5408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 Iteration Flow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23076" y="4160520"/>
            <a:ext cx="5408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2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Iteration Flow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4617720"/>
            <a:ext cx="1693164" cy="548640"/>
          </a:xfrm>
          <a:prstGeom prst="roundRect">
            <a:avLst>
              <a:gd name="adj" fmla="val 11667"/>
            </a:avLst>
          </a:prstGeom>
          <a:solidFill>
            <a:srgbClr val="EAF6F7"/>
          </a:solidFill>
          <a:ln w="15875">
            <a:solidFill>
              <a:srgbClr val="1C8C99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3776" y="4617720"/>
            <a:ext cx="1620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50364" y="4892040"/>
            <a:ext cx="164592" cy="914"/>
          </a:xfrm>
          <a:prstGeom prst="line">
            <a:avLst/>
          </a:prstGeom>
          <a:noFill/>
          <a:ln w="25400">
            <a:solidFill>
              <a:srgbClr val="1C8C99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314956" y="4617720"/>
            <a:ext cx="1693164" cy="548640"/>
          </a:xfrm>
          <a:prstGeom prst="roundRect">
            <a:avLst>
              <a:gd name="adj" fmla="val 11667"/>
            </a:avLst>
          </a:prstGeom>
          <a:solidFill>
            <a:srgbClr val="EAF6F7"/>
          </a:solidFill>
          <a:ln w="15875">
            <a:solidFill>
              <a:srgbClr val="1C8C99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351532" y="4617720"/>
            <a:ext cx="1620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 VALUE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08120" y="4892040"/>
            <a:ext cx="164592" cy="914"/>
          </a:xfrm>
          <a:prstGeom prst="line">
            <a:avLst/>
          </a:prstGeom>
          <a:noFill/>
          <a:ln w="25400">
            <a:solidFill>
              <a:srgbClr val="1C8C99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172712" y="4617720"/>
            <a:ext cx="1693164" cy="548640"/>
          </a:xfrm>
          <a:prstGeom prst="roundRect">
            <a:avLst>
              <a:gd name="adj" fmla="val 11667"/>
            </a:avLst>
          </a:prstGeom>
          <a:solidFill>
            <a:srgbClr val="EAF6F7"/>
          </a:solidFill>
          <a:ln w="15875">
            <a:solidFill>
              <a:srgbClr val="1C8C99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209288" y="4617720"/>
            <a:ext cx="1620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OPTIMAL POLICY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23076" y="4617720"/>
            <a:ext cx="1228725" cy="548640"/>
          </a:xfrm>
          <a:prstGeom prst="roundRect">
            <a:avLst>
              <a:gd name="adj" fmla="val 11667"/>
            </a:avLst>
          </a:prstGeom>
          <a:solidFill>
            <a:srgbClr val="EAF6F7"/>
          </a:solidFill>
          <a:ln w="15875">
            <a:solidFill>
              <a:srgbClr val="E8823D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59652" y="4617720"/>
            <a:ext cx="11555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551801" y="4892040"/>
            <a:ext cx="164592" cy="914"/>
          </a:xfrm>
          <a:prstGeom prst="line">
            <a:avLst/>
          </a:prstGeom>
          <a:noFill/>
          <a:ln w="25400">
            <a:solidFill>
              <a:srgbClr val="E8823D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716393" y="4617720"/>
            <a:ext cx="1228725" cy="548640"/>
          </a:xfrm>
          <a:prstGeom prst="roundRect">
            <a:avLst>
              <a:gd name="adj" fmla="val 11667"/>
            </a:avLst>
          </a:prstGeom>
          <a:solidFill>
            <a:srgbClr val="EAF6F7"/>
          </a:solidFill>
          <a:ln w="15875">
            <a:solidFill>
              <a:srgbClr val="E8823D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752969" y="4617720"/>
            <a:ext cx="11555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945118" y="4892040"/>
            <a:ext cx="164592" cy="914"/>
          </a:xfrm>
          <a:prstGeom prst="line">
            <a:avLst/>
          </a:prstGeom>
          <a:noFill/>
          <a:ln w="25400">
            <a:solidFill>
              <a:srgbClr val="E8823D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109710" y="4617720"/>
            <a:ext cx="1228725" cy="548640"/>
          </a:xfrm>
          <a:prstGeom prst="roundRect">
            <a:avLst>
              <a:gd name="adj" fmla="val 11667"/>
            </a:avLst>
          </a:prstGeom>
          <a:solidFill>
            <a:srgbClr val="EAF6F7"/>
          </a:solidFill>
          <a:ln w="15875">
            <a:solidFill>
              <a:srgbClr val="E8823D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146286" y="4617720"/>
            <a:ext cx="11555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0338435" y="4892040"/>
            <a:ext cx="164592" cy="914"/>
          </a:xfrm>
          <a:prstGeom prst="line">
            <a:avLst/>
          </a:prstGeom>
          <a:noFill/>
          <a:ln w="25400">
            <a:solidFill>
              <a:srgbClr val="E8823D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10503027" y="4617720"/>
            <a:ext cx="1228725" cy="548640"/>
          </a:xfrm>
          <a:prstGeom prst="roundRect">
            <a:avLst>
              <a:gd name="adj" fmla="val 11667"/>
            </a:avLst>
          </a:prstGeom>
          <a:solidFill>
            <a:srgbClr val="EAF6F7"/>
          </a:solidFill>
          <a:ln w="15875">
            <a:solidFill>
              <a:srgbClr val="E8823D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539603" y="4617720"/>
            <a:ext cx="11555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POLICY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6D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Dynamic Programming in Warehouse Robot Navigation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5D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Robot position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Package location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Obstacle positions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5D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Up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Down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Left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Right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5D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Rewards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+10 for successful delivery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–5 for collision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–1 for unnecessary movement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0" y="1417320"/>
            <a:ext cx="569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5D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Warehouse Grid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28916" y="192024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06156" y="192024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83396" y="192024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60636" y="192024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28916" y="269748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6156" y="269748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83396" y="269748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60636" y="2697480"/>
            <a:ext cx="777240" cy="777240"/>
          </a:xfrm>
          <a:prstGeom prst="rect">
            <a:avLst/>
          </a:prstGeom>
          <a:solidFill>
            <a:srgbClr val="F1E4E4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28916" y="347472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6156" y="3474720"/>
            <a:ext cx="777240" cy="777240"/>
          </a:xfrm>
          <a:prstGeom prst="rect">
            <a:avLst/>
          </a:prstGeom>
          <a:solidFill>
            <a:srgbClr val="F1E4E4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83396" y="347472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60636" y="347472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28916" y="425196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06156" y="425196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3396" y="425196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60636" y="425196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6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38644" y="2029968"/>
            <a:ext cx="557784" cy="557784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27" name="Text 25"/>
          <p:cNvSpPr/>
          <p:nvPr/>
        </p:nvSpPr>
        <p:spPr>
          <a:xfrm>
            <a:off x="7438644" y="2029968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038844" y="2852928"/>
            <a:ext cx="466344" cy="466344"/>
          </a:xfrm>
          <a:prstGeom prst="ellipse">
            <a:avLst/>
          </a:prstGeom>
          <a:solidFill>
            <a:srgbClr val="E8823D"/>
          </a:solidFill>
          <a:ln/>
        </p:spPr>
      </p:sp>
      <p:sp>
        <p:nvSpPr>
          <p:cNvPr id="29" name="Text 27"/>
          <p:cNvSpPr/>
          <p:nvPr/>
        </p:nvSpPr>
        <p:spPr>
          <a:xfrm>
            <a:off x="9038844" y="2852928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06156" y="3474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5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60636" y="2697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5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733788" y="4325112"/>
            <a:ext cx="630936" cy="630936"/>
          </a:xfrm>
          <a:prstGeom prst="roundRect">
            <a:avLst>
              <a:gd name="adj" fmla="val 8696"/>
            </a:avLst>
          </a:prstGeom>
          <a:solidFill>
            <a:srgbClr val="0B5D6D"/>
          </a:solidFill>
          <a:ln/>
        </p:spPr>
      </p:sp>
      <p:sp>
        <p:nvSpPr>
          <p:cNvPr id="33" name="Text 31"/>
          <p:cNvSpPr/>
          <p:nvPr/>
        </p:nvSpPr>
        <p:spPr>
          <a:xfrm>
            <a:off x="9660636" y="4251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28916" y="5166360"/>
            <a:ext cx="164592" cy="164592"/>
          </a:xfrm>
          <a:prstGeom prst="rect">
            <a:avLst/>
          </a:prstGeom>
          <a:solidFill>
            <a:srgbClr val="1C8C99"/>
          </a:solidFill>
          <a:ln/>
        </p:spPr>
      </p:sp>
      <p:sp>
        <p:nvSpPr>
          <p:cNvPr id="35" name="Text 33"/>
          <p:cNvSpPr/>
          <p:nvPr/>
        </p:nvSpPr>
        <p:spPr>
          <a:xfrm>
            <a:off x="7548372" y="5120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= Robot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700516" y="5166360"/>
            <a:ext cx="164592" cy="164592"/>
          </a:xfrm>
          <a:prstGeom prst="rect">
            <a:avLst/>
          </a:prstGeom>
          <a:solidFill>
            <a:srgbClr val="E8823D"/>
          </a:solidFill>
          <a:ln/>
        </p:spPr>
      </p:sp>
      <p:sp>
        <p:nvSpPr>
          <p:cNvPr id="37" name="Text 35"/>
          <p:cNvSpPr/>
          <p:nvPr/>
        </p:nvSpPr>
        <p:spPr>
          <a:xfrm>
            <a:off x="8919972" y="5120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= Package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072116" y="5166360"/>
            <a:ext cx="164592" cy="164592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9" name="Text 37"/>
          <p:cNvSpPr/>
          <p:nvPr/>
        </p:nvSpPr>
        <p:spPr>
          <a:xfrm>
            <a:off x="10291572" y="5120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= Obstacle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1443716" y="5166360"/>
            <a:ext cx="164592" cy="164592"/>
          </a:xfrm>
          <a:prstGeom prst="rect">
            <a:avLst/>
          </a:prstGeom>
          <a:solidFill>
            <a:srgbClr val="0B5D6D"/>
          </a:solidFill>
          <a:ln/>
        </p:spPr>
      </p:sp>
      <p:sp>
        <p:nvSpPr>
          <p:cNvPr id="41" name="Text 39"/>
          <p:cNvSpPr/>
          <p:nvPr/>
        </p:nvSpPr>
        <p:spPr>
          <a:xfrm>
            <a:off x="11663172" y="5120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 cell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35040" y="5486400"/>
            <a:ext cx="1321308" cy="411480"/>
          </a:xfrm>
          <a:prstGeom prst="roundRect">
            <a:avLst>
              <a:gd name="adj" fmla="val 15556"/>
            </a:avLst>
          </a:prstGeom>
          <a:solidFill>
            <a:srgbClr val="EAF6F7"/>
          </a:solidFill>
          <a:ln w="15875">
            <a:solidFill>
              <a:srgbClr val="1C8C99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071616" y="5486400"/>
            <a:ext cx="12481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Grid State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356348" y="5692140"/>
            <a:ext cx="137160" cy="914"/>
          </a:xfrm>
          <a:prstGeom prst="line">
            <a:avLst/>
          </a:prstGeom>
          <a:noFill/>
          <a:ln w="25400">
            <a:solidFill>
              <a:srgbClr val="1C8C9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493508" y="5486400"/>
            <a:ext cx="1321308" cy="411480"/>
          </a:xfrm>
          <a:prstGeom prst="roundRect">
            <a:avLst>
              <a:gd name="adj" fmla="val 15556"/>
            </a:avLst>
          </a:prstGeom>
          <a:solidFill>
            <a:srgbClr val="EAF6F7"/>
          </a:solidFill>
          <a:ln w="15875">
            <a:solidFill>
              <a:srgbClr val="1C8C99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530084" y="5486400"/>
            <a:ext cx="12481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Bellman Calculation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814816" y="5692140"/>
            <a:ext cx="137160" cy="914"/>
          </a:xfrm>
          <a:prstGeom prst="line">
            <a:avLst/>
          </a:prstGeom>
          <a:noFill/>
          <a:ln w="25400">
            <a:solidFill>
              <a:srgbClr val="1C8C99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951976" y="5486400"/>
            <a:ext cx="1321308" cy="411480"/>
          </a:xfrm>
          <a:prstGeom prst="roundRect">
            <a:avLst>
              <a:gd name="adj" fmla="val 15556"/>
            </a:avLst>
          </a:prstGeom>
          <a:solidFill>
            <a:srgbClr val="EAF6F7"/>
          </a:solidFill>
          <a:ln w="15875">
            <a:solidFill>
              <a:srgbClr val="1C8C99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988552" y="5486400"/>
            <a:ext cx="12481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Action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0273284" y="5692140"/>
            <a:ext cx="137160" cy="914"/>
          </a:xfrm>
          <a:prstGeom prst="line">
            <a:avLst/>
          </a:prstGeom>
          <a:noFill/>
          <a:ln w="25400">
            <a:solidFill>
              <a:srgbClr val="1C8C99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0410444" y="5486400"/>
            <a:ext cx="1321308" cy="411480"/>
          </a:xfrm>
          <a:prstGeom prst="roundRect">
            <a:avLst>
              <a:gd name="adj" fmla="val 15556"/>
            </a:avLst>
          </a:prstGeom>
          <a:solidFill>
            <a:srgbClr val="EAF6F7"/>
          </a:solidFill>
          <a:ln w="15875">
            <a:solidFill>
              <a:srgbClr val="1C8C99"/>
            </a:solidFill>
            <a:prstDash val="solid"/>
          </a:ln>
          <a:effectLst>
            <a:outerShdw blurRad="38100" dist="25400" dir="5400000" algn="bl" rotWithShape="0">
              <a:srgbClr val="8A8A8A">
                <a:alpha val="2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0447020" y="5486400"/>
            <a:ext cx="12481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known environment model lets Dynamic Programming compute the best path in advance, rather than learning it through trial and error.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5D6D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31620"/>
            <a:ext cx="457200" cy="45720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31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0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Bellman Principle provides the foundation for sequential decision-making.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473452"/>
            <a:ext cx="457200" cy="457200"/>
          </a:xfrm>
          <a:prstGeom prst="ellipse">
            <a:avLst/>
          </a:prstGeom>
          <a:solidFill>
            <a:srgbClr val="E8823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734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313432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Evaluation estimates the quality of a policy.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415284"/>
            <a:ext cx="457200" cy="45720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152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255264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Improvement makes the policy better.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57116"/>
            <a:ext cx="457200" cy="457200"/>
          </a:xfrm>
          <a:prstGeom prst="ellipse">
            <a:avLst/>
          </a:prstGeom>
          <a:solidFill>
            <a:srgbClr val="E8823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3571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197096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8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 Iteration and Policy Iteration obtain optimal policies when the environment model is known.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5276088"/>
            <a:ext cx="10543032" cy="868680"/>
          </a:xfrm>
          <a:prstGeom prst="roundRect">
            <a:avLst>
              <a:gd name="adj" fmla="val 10526"/>
            </a:avLst>
          </a:prstGeom>
          <a:solidFill>
            <a:srgbClr val="FFF3E9"/>
          </a:solidFill>
          <a:ln w="19050">
            <a:solidFill>
              <a:srgbClr val="E882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276088"/>
            <a:ext cx="10177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0B5D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“Dynamic Programming converts future rewards into better sequential decisions.”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567</Words>
  <Application>Microsoft Office PowerPoint</Application>
  <PresentationFormat>Widescreen</PresentationFormat>
  <Paragraphs>129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Batang</vt:lpstr>
      <vt:lpstr>Arial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Sirivally Singari</cp:lastModifiedBy>
  <cp:revision>3</cp:revision>
  <dcterms:created xsi:type="dcterms:W3CDTF">2026-08-18T03:40:26Z</dcterms:created>
  <dcterms:modified xsi:type="dcterms:W3CDTF">2026-08-18T06:24:21Z</dcterms:modified>
</cp:coreProperties>
</file>