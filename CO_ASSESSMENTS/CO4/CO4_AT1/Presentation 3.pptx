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Monte Carlo</c:v>
                </c:pt>
              </c:strCache>
            </c:strRef>
          </c:tx>
          <c:spPr>
            <a:ln w="38100" cap="flat">
              <a:solidFill>
                <a:srgbClr val="E07A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2C"/>
              </a:solidFill>
              <a:ln w="9525" cap="flat">
                <a:solidFill>
                  <a:srgbClr val="E07A2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18</c:v>
                </c:pt>
                <c:pt idx="2">
                  <c:v>24</c:v>
                </c:pt>
                <c:pt idx="3">
                  <c:v>34</c:v>
                </c:pt>
                <c:pt idx="4">
                  <c:v>40</c:v>
                </c:pt>
                <c:pt idx="5">
                  <c:v>50</c:v>
                </c:pt>
                <c:pt idx="6">
                  <c:v>55</c:v>
                </c:pt>
                <c:pt idx="7">
                  <c:v>63</c:v>
                </c:pt>
                <c:pt idx="8">
                  <c:v>68</c:v>
                </c:pt>
                <c:pt idx="9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27-492B-A195-3E799E282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TD-based Methods</c:v>
                </c:pt>
              </c:strCache>
            </c:strRef>
          </c:tx>
          <c:spPr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</c:v>
                </c:pt>
                <c:pt idx="1">
                  <c:v>35</c:v>
                </c:pt>
                <c:pt idx="2">
                  <c:v>50</c:v>
                </c:pt>
                <c:pt idx="3">
                  <c:v>62</c:v>
                </c:pt>
                <c:pt idx="4">
                  <c:v>71</c:v>
                </c:pt>
                <c:pt idx="5">
                  <c:v>78</c:v>
                </c:pt>
                <c:pt idx="6">
                  <c:v>84</c:v>
                </c:pt>
                <c:pt idx="7">
                  <c:v>88</c:v>
                </c:pt>
                <c:pt idx="8">
                  <c:v>91</c:v>
                </c:pt>
                <c:pt idx="9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27-492B-A195-3E799E282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5B5B"/>
                    </a:solidFill>
                    <a:latin typeface="Arial"/>
                  </a:defRPr>
                </a:pPr>
                <a:r>
                  <a:rPr lang="en-IN" sz="1300" b="0" i="0" u="none" strike="noStrike">
                    <a:solidFill>
                      <a:srgbClr val="5B5B5B"/>
                    </a:solidFill>
                    <a:latin typeface="Arial"/>
                  </a:rPr>
                  <a:t>Episodes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B5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5B5B"/>
                    </a:solidFill>
                    <a:latin typeface="Arial"/>
                  </a:defRPr>
                </a:pPr>
                <a:r>
                  <a:rPr lang="en-IN" sz="1300" b="0" i="0" u="none" strike="noStrike">
                    <a:solidFill>
                      <a:srgbClr val="5B5B5B"/>
                    </a:solidFill>
                    <a:latin typeface="Arial"/>
                  </a:rPr>
                  <a:t>Average Reward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B5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32323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27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7F0CB-3372-D177-E5B5-FB89B56A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15" y="138516"/>
            <a:ext cx="1440167" cy="1342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6DEAFC-C652-7FC4-C1FF-A1278F24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"/>
          <a:stretch>
            <a:fillRect/>
          </a:stretch>
        </p:blipFill>
        <p:spPr>
          <a:xfrm>
            <a:off x="10450059" y="138516"/>
            <a:ext cx="1525826" cy="1342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64D6BF-E3EF-56FE-C6B5-5BBA01FC958F}"/>
              </a:ext>
            </a:extLst>
          </p:cNvPr>
          <p:cNvSpPr txBox="1"/>
          <p:nvPr/>
        </p:nvSpPr>
        <p:spPr>
          <a:xfrm>
            <a:off x="3468436" y="2505910"/>
            <a:ext cx="6094413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99" b="1" dirty="0">
                <a:solidFill>
                  <a:srgbClr val="111827"/>
                </a:solidFill>
                <a:highlight>
                  <a:srgbClr val="E9E9E9"/>
                </a:highlight>
                <a:latin typeface="Batang"/>
                <a:ea typeface="Batang"/>
              </a:rPr>
              <a:t>MLA0301 - REINFORCEMENT LEARNING</a:t>
            </a:r>
            <a:endParaRPr lang="en-US" sz="1799" dirty="0">
              <a:latin typeface="Batang"/>
              <a:ea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267B5-402C-503B-7FC4-9E943B420072}"/>
              </a:ext>
            </a:extLst>
          </p:cNvPr>
          <p:cNvSpPr txBox="1"/>
          <p:nvPr/>
        </p:nvSpPr>
        <p:spPr>
          <a:xfrm>
            <a:off x="2088231" y="3317943"/>
            <a:ext cx="7644903" cy="97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2800" b="1" dirty="0">
                <a:latin typeface="Batang" pitchFamily="34" charset="0"/>
                <a:ea typeface="Batang" pitchFamily="34" charset="-122"/>
                <a:cs typeface="Batang" pitchFamily="34" charset="-120"/>
              </a:rPr>
              <a:t>Monte Carlo Methods and Temporal-Difference Learning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E66E0-7CCB-894C-F1CF-8E0624AA4E30}"/>
              </a:ext>
            </a:extLst>
          </p:cNvPr>
          <p:cNvSpPr txBox="1"/>
          <p:nvPr/>
        </p:nvSpPr>
        <p:spPr>
          <a:xfrm>
            <a:off x="1057559" y="5065551"/>
            <a:ext cx="6094413" cy="87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Guided by: 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Dr. Senthil G A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0FCE4-ADF6-40D8-18A1-F5185BC53628}"/>
              </a:ext>
            </a:extLst>
          </p:cNvPr>
          <p:cNvSpPr txBox="1"/>
          <p:nvPr/>
        </p:nvSpPr>
        <p:spPr>
          <a:xfrm>
            <a:off x="8010187" y="4917807"/>
            <a:ext cx="6094413" cy="87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Presented by: 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S. Sirivally (192472371)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7AC93-35A1-BF7B-B063-9B87F064EE2E}"/>
              </a:ext>
            </a:extLst>
          </p:cNvPr>
          <p:cNvSpPr txBox="1"/>
          <p:nvPr/>
        </p:nvSpPr>
        <p:spPr>
          <a:xfrm>
            <a:off x="2567720" y="405379"/>
            <a:ext cx="7053385" cy="108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 algn="ctr">
              <a:spcBef>
                <a:spcPts val="100"/>
              </a:spcBef>
            </a:pPr>
            <a:r>
              <a:rPr lang="en-IN" sz="2799" spc="-25" dirty="0">
                <a:latin typeface="Times New Roman"/>
                <a:cs typeface="Times New Roman"/>
              </a:rPr>
              <a:t>SIMATS</a:t>
            </a:r>
            <a:r>
              <a:rPr lang="en-IN" sz="2799" spc="-125" dirty="0">
                <a:latin typeface="Times New Roman"/>
                <a:cs typeface="Times New Roman"/>
              </a:rPr>
              <a:t>  </a:t>
            </a:r>
            <a:r>
              <a:rPr lang="en-IN" sz="2799" spc="-10" dirty="0">
                <a:latin typeface="Times New Roman"/>
                <a:cs typeface="Times New Roman"/>
              </a:rPr>
              <a:t>ENGINEERING</a:t>
            </a:r>
          </a:p>
          <a:p>
            <a:pPr marL="12696" algn="ctr">
              <a:spcBef>
                <a:spcPts val="100"/>
              </a:spcBef>
            </a:pPr>
            <a:r>
              <a:rPr lang="en-US" sz="1799" b="1" spc="-55" dirty="0">
                <a:latin typeface="Times New Roman"/>
                <a:cs typeface="Times New Roman"/>
              </a:rPr>
              <a:t>SAVEETHA</a:t>
            </a:r>
            <a:r>
              <a:rPr lang="en-US" sz="1799" b="1" spc="-110" dirty="0">
                <a:latin typeface="Times New Roman"/>
                <a:cs typeface="Times New Roman"/>
              </a:rPr>
              <a:t> </a:t>
            </a:r>
            <a:r>
              <a:rPr lang="en-US" sz="1799" b="1" spc="-10" dirty="0">
                <a:latin typeface="Times New Roman"/>
                <a:cs typeface="Times New Roman"/>
              </a:rPr>
              <a:t>INSTITUTE</a:t>
            </a:r>
            <a:r>
              <a:rPr lang="en-US" sz="1799" b="1" dirty="0">
                <a:latin typeface="Times New Roman"/>
                <a:cs typeface="Times New Roman"/>
              </a:rPr>
              <a:t> OF</a:t>
            </a:r>
            <a:r>
              <a:rPr lang="en-US" sz="1799" b="1" spc="-75" dirty="0">
                <a:latin typeface="Times New Roman"/>
                <a:cs typeface="Times New Roman"/>
              </a:rPr>
              <a:t> </a:t>
            </a:r>
            <a:r>
              <a:rPr lang="en-US" sz="1799" b="1" spc="-25" dirty="0">
                <a:latin typeface="Times New Roman"/>
                <a:cs typeface="Times New Roman"/>
              </a:rPr>
              <a:t>MEDICAL </a:t>
            </a:r>
            <a:r>
              <a:rPr lang="en-US" sz="1799" b="1" spc="-220" dirty="0">
                <a:latin typeface="Times New Roman"/>
                <a:cs typeface="Times New Roman"/>
              </a:rPr>
              <a:t> </a:t>
            </a:r>
            <a:r>
              <a:rPr lang="en-US" sz="1799" b="1" spc="-25" dirty="0">
                <a:latin typeface="Times New Roman"/>
                <a:cs typeface="Times New Roman"/>
              </a:rPr>
              <a:t>AND TECHNICAL</a:t>
            </a:r>
            <a:r>
              <a:rPr lang="en-US" sz="1799" b="1" spc="-55" dirty="0">
                <a:latin typeface="Times New Roman"/>
                <a:cs typeface="Times New Roman"/>
              </a:rPr>
              <a:t> </a:t>
            </a:r>
            <a:r>
              <a:rPr lang="en-US" sz="1799" b="1" spc="-10" dirty="0">
                <a:latin typeface="Times New Roman"/>
                <a:cs typeface="Times New Roman"/>
              </a:rPr>
              <a:t>SCIENCES</a:t>
            </a:r>
          </a:p>
        </p:txBody>
      </p:sp>
    </p:spTree>
    <p:extLst>
      <p:ext uri="{BB962C8B-B14F-4D97-AF65-F5344CB8AC3E}">
        <p14:creationId xmlns:p14="http://schemas.microsoft.com/office/powerpoint/2010/main" val="117270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4B8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Monte Carlo Methods and Temporal-Difference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Comparative Study of Model-Free Value Estimation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2700">
            <a:solidFill>
              <a:srgbClr val="1B4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39112"/>
            <a:ext cx="5038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4B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Experience-Based:  </a:t>
            </a: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methods estimate value functions from experience.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91072" y="19659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2700">
            <a:solidFill>
              <a:srgbClr val="1B4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39112"/>
            <a:ext cx="5038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4B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Episodes:  </a:t>
            </a: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learns from complete episodes.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3F5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44952"/>
            <a:ext cx="5038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Step-by-Step:  </a:t>
            </a: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Temporal-Difference learning updates values after every step.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91072" y="29718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3F5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44952"/>
            <a:ext cx="5038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Model-Free:  </a:t>
            </a: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are important model-free reinforcement learning approaches.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General Learning Loop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76756" y="44348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76756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19956" y="4617720"/>
            <a:ext cx="502920" cy="201168"/>
          </a:xfrm>
          <a:prstGeom prst="rightArrow">
            <a:avLst/>
          </a:prstGeom>
          <a:solidFill>
            <a:srgbClr val="1B4B8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22876" y="44348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2876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66076" y="4617720"/>
            <a:ext cx="502920" cy="201168"/>
          </a:xfrm>
          <a:prstGeom prst="rightArrow">
            <a:avLst/>
          </a:prstGeom>
          <a:solidFill>
            <a:srgbClr val="1B4B8C"/>
          </a:solidFill>
          <a:ln/>
        </p:spPr>
      </p:sp>
      <p:sp>
        <p:nvSpPr>
          <p:cNvPr id="20" name="Shape 18"/>
          <p:cNvSpPr/>
          <p:nvPr/>
        </p:nvSpPr>
        <p:spPr>
          <a:xfrm>
            <a:off x="7968996" y="44348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68996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 UPDATE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74036" y="5230368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74036" y="5230368"/>
            <a:ext cx="27432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17236" y="5394960"/>
            <a:ext cx="502920" cy="201168"/>
          </a:xfrm>
          <a:prstGeom prst="rightArrow">
            <a:avLst/>
          </a:prstGeom>
          <a:solidFill>
            <a:srgbClr val="E07A2C"/>
          </a:solidFill>
          <a:ln/>
        </p:spPr>
      </p:sp>
      <p:sp>
        <p:nvSpPr>
          <p:cNvPr id="25" name="Shape 23"/>
          <p:cNvSpPr/>
          <p:nvPr/>
        </p:nvSpPr>
        <p:spPr>
          <a:xfrm>
            <a:off x="5820156" y="5230368"/>
            <a:ext cx="3794760" cy="530352"/>
          </a:xfrm>
          <a:prstGeom prst="roundRect">
            <a:avLst>
              <a:gd name="adj" fmla="val 12069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20156" y="5230368"/>
            <a:ext cx="37947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EPISODE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574036" y="5943600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E3F5F4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74036" y="5943600"/>
            <a:ext cx="27432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DIFFERENCE (TD)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17236" y="6108192"/>
            <a:ext cx="502920" cy="201168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30" name="Shape 28"/>
          <p:cNvSpPr/>
          <p:nvPr/>
        </p:nvSpPr>
        <p:spPr>
          <a:xfrm>
            <a:off x="5820156" y="5943600"/>
            <a:ext cx="3794760" cy="530352"/>
          </a:xfrm>
          <a:prstGeom prst="roundRect">
            <a:avLst>
              <a:gd name="adj" fmla="val 12069"/>
            </a:avLst>
          </a:prstGeom>
          <a:solidFill>
            <a:srgbClr val="E3F5F4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20156" y="5943600"/>
            <a:ext cx="37947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STEP-BY-STEP LEARNING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MLA0301 – Reinforcement Learning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57432" y="6547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4B8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Monte Carlo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and Control from Complete Episodes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07A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Monte Carlo 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60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Monte Carlo Works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interacts with the environment until the episode terminates.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total return is calculated once the episode ends.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value estimate is updated using the actual observed return.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Useful when complete episode outcomes are available.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60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Equation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15968"/>
            <a:ext cx="539496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 R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t+1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+  γR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t+2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+  γ</a:t>
            </a:r>
            <a:r>
              <a:rPr lang="en-US" sz="1900" b="1" baseline="3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t+3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+  …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09360" y="1536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B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Episode Trajectory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543800" y="1938528"/>
            <a:ext cx="3017520" cy="457200"/>
          </a:xfrm>
          <a:prstGeom prst="roundRect">
            <a:avLst>
              <a:gd name="adj" fmla="val 14000"/>
            </a:avLst>
          </a:prstGeom>
          <a:solidFill>
            <a:srgbClr val="E3F5F4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51976" y="2395728"/>
            <a:ext cx="201168" cy="192024"/>
          </a:xfrm>
          <a:prstGeom prst="downArrow">
            <a:avLst/>
          </a:prstGeom>
          <a:solidFill>
            <a:srgbClr val="8A94A6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3800" y="2615184"/>
            <a:ext cx="3017520" cy="457200"/>
          </a:xfrm>
          <a:prstGeom prst="roundRect">
            <a:avLst>
              <a:gd name="adj" fmla="val 14000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51976" y="3072384"/>
            <a:ext cx="201168" cy="192024"/>
          </a:xfrm>
          <a:prstGeom prst="downArrow">
            <a:avLst/>
          </a:prstGeom>
          <a:solidFill>
            <a:srgbClr val="8A94A6"/>
          </a:solidFill>
          <a:ln/>
        </p:spPr>
      </p:sp>
      <p:sp>
        <p:nvSpPr>
          <p:cNvPr id="17" name="Shape 15"/>
          <p:cNvSpPr/>
          <p:nvPr/>
        </p:nvSpPr>
        <p:spPr>
          <a:xfrm>
            <a:off x="7543800" y="3291840"/>
            <a:ext cx="3017520" cy="457200"/>
          </a:xfrm>
          <a:prstGeom prst="roundRect">
            <a:avLst>
              <a:gd name="adj" fmla="val 14000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51976" y="3749040"/>
            <a:ext cx="201168" cy="192024"/>
          </a:xfrm>
          <a:prstGeom prst="downArrow">
            <a:avLst/>
          </a:prstGeom>
          <a:solidFill>
            <a:srgbClr val="8A94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0" y="3968496"/>
            <a:ext cx="3017520" cy="457200"/>
          </a:xfrm>
          <a:prstGeom prst="roundRect">
            <a:avLst>
              <a:gd name="adj" fmla="val 14000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3968496"/>
            <a:ext cx="3017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51976" y="4425696"/>
            <a:ext cx="201168" cy="192024"/>
          </a:xfrm>
          <a:prstGeom prst="downArrow">
            <a:avLst/>
          </a:prstGeom>
          <a:solidFill>
            <a:srgbClr val="8A94A6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3800" y="4645152"/>
            <a:ext cx="3017520" cy="457200"/>
          </a:xfrm>
          <a:prstGeom prst="roundRect">
            <a:avLst>
              <a:gd name="adj" fmla="val 14000"/>
            </a:avLst>
          </a:prstGeom>
          <a:solidFill>
            <a:srgbClr val="E3F5F4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4645152"/>
            <a:ext cx="3017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460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Episode to Value Update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22376" y="5779008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" y="5779008"/>
            <a:ext cx="3246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EPISODE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68496" y="5961888"/>
            <a:ext cx="502920" cy="201168"/>
          </a:xfrm>
          <a:prstGeom prst="rightArrow">
            <a:avLst/>
          </a:prstGeom>
          <a:solidFill>
            <a:srgbClr val="E07A2C"/>
          </a:solidFill>
          <a:ln/>
        </p:spPr>
      </p:sp>
      <p:sp>
        <p:nvSpPr>
          <p:cNvPr id="29" name="Shape 27"/>
          <p:cNvSpPr/>
          <p:nvPr/>
        </p:nvSpPr>
        <p:spPr>
          <a:xfrm>
            <a:off x="4471416" y="5779008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71416" y="5779008"/>
            <a:ext cx="3246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RETURN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717536" y="5961888"/>
            <a:ext cx="502920" cy="201168"/>
          </a:xfrm>
          <a:prstGeom prst="rightArrow">
            <a:avLst/>
          </a:prstGeom>
          <a:solidFill>
            <a:srgbClr val="E07A2C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0456" y="5779008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0456" y="5779008"/>
            <a:ext cx="32461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VALUE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MLA0301 – Reinforcement Learning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57432" y="6547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4B8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Temporal-Difference Learning – TD(0)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Before the Episode Ends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Characteristics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 learns before the episode ends.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uses the current reward and the estimated value of the next state.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updates the value function after every single transition.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TD(0) Update Rule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041648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E3F5F4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41648"/>
            <a:ext cx="53035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V(S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 ←  V(S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 +  α[R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t+1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+  γV(S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t+1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 −  V(S</a:t>
            </a:r>
            <a:r>
              <a:rPr lang="en-US" sz="1900" b="1" baseline="-40000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)]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89320" y="1536192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B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One-Step Update Mechanism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1207008" cy="548640"/>
          </a:xfrm>
          <a:prstGeom prst="roundRect">
            <a:avLst>
              <a:gd name="adj" fmla="val 11667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965960"/>
            <a:ext cx="12070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42048" y="2157984"/>
            <a:ext cx="256032" cy="164592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965960"/>
            <a:ext cx="1207008" cy="548640"/>
          </a:xfrm>
          <a:prstGeom prst="roundRect">
            <a:avLst>
              <a:gd name="adj" fmla="val 11667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965960"/>
            <a:ext cx="12070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05088" y="2157984"/>
            <a:ext cx="256032" cy="164592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1965960"/>
            <a:ext cx="1207008" cy="548640"/>
          </a:xfrm>
          <a:prstGeom prst="roundRect">
            <a:avLst>
              <a:gd name="adj" fmla="val 11667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965960"/>
            <a:ext cx="12070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168128" y="2157984"/>
            <a:ext cx="256032" cy="164592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24160" y="1965960"/>
            <a:ext cx="1207008" cy="548640"/>
          </a:xfrm>
          <a:prstGeom prst="roundRect">
            <a:avLst>
              <a:gd name="adj" fmla="val 11667"/>
            </a:avLst>
          </a:prstGeom>
          <a:solidFill>
            <a:srgbClr val="EAF1FB"/>
          </a:solidFill>
          <a:ln w="19050">
            <a:solidFill>
              <a:srgbClr val="1B4B8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424160" y="1965960"/>
            <a:ext cx="12070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B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927080" y="2560320"/>
            <a:ext cx="201168" cy="365760"/>
          </a:xfrm>
          <a:prstGeom prst="downArrow">
            <a:avLst/>
          </a:prstGeom>
          <a:solidFill>
            <a:srgbClr val="E07A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22208" y="2977179"/>
            <a:ext cx="3291840" cy="548640"/>
          </a:xfrm>
          <a:prstGeom prst="roundRect">
            <a:avLst>
              <a:gd name="adj" fmla="val 11667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22208" y="2962656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IMMEDIATE UPDATE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89320" y="3703320"/>
            <a:ext cx="5742432" cy="1298448"/>
          </a:xfrm>
          <a:prstGeom prst="roundRect">
            <a:avLst>
              <a:gd name="adj" fmla="val 5634"/>
            </a:avLst>
          </a:prstGeom>
          <a:solidFill>
            <a:srgbClr val="E3F5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813048"/>
            <a:ext cx="5193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TD(0) bootstraps from its own value estimate, the update happens immediately after each transition — there is no need to wait for the episode to finish.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DEBDB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321808"/>
            <a:ext cx="49286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MC:  </a:t>
            </a: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Waits for the actual return at the end of the episode.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291072" y="52120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3F5F4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5321808"/>
            <a:ext cx="49286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TD:  </a:t>
            </a: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Learns immediately from an estimated (bootstrapped) return.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MLA0301 – Reinforcement Learning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57432" y="6547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4B8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SARSA and Q-Learning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On-Policy vs Off-Policy Temporal-Difference Control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E3F5F4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733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SARSA</a:t>
            </a:r>
            <a:r>
              <a:rPr lang="en-US" sz="1600" i="1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(On-Policy)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2221992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21992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95244" y="2624328"/>
            <a:ext cx="164592" cy="91440"/>
          </a:xfrm>
          <a:prstGeom prst="downArrow">
            <a:avLst/>
          </a:prstGeom>
          <a:solidFill>
            <a:srgbClr val="0E7C86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734056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734056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95244" y="3136392"/>
            <a:ext cx="164592" cy="91440"/>
          </a:xfrm>
          <a:prstGeom prst="downArrow">
            <a:avLst/>
          </a:prstGeom>
          <a:solidFill>
            <a:srgbClr val="0E7C8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3246120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246120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95244" y="3648456"/>
            <a:ext cx="164592" cy="91440"/>
          </a:xfrm>
          <a:prstGeom prst="downArrow">
            <a:avLst/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3758184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3758184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STATE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095244" y="4160520"/>
            <a:ext cx="164592" cy="91440"/>
          </a:xfrm>
          <a:prstGeom prst="downArrow">
            <a:avLst/>
          </a:prstGeom>
          <a:solidFill>
            <a:srgbClr val="0E7C8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4270248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4270248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B5B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910328"/>
            <a:ext cx="4800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On-policy — learns using the same policy that acts.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the action actually selected by the current policy.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91072" y="150876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FDEBDB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11112" y="16733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07A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Q-LEARNING</a:t>
            </a:r>
            <a:r>
              <a:rPr lang="en-US" sz="1600" i="1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(Off-Policy)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85432" y="2221992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85432" y="2221992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29116" y="2624328"/>
            <a:ext cx="164592" cy="91440"/>
          </a:xfrm>
          <a:prstGeom prst="downArrow">
            <a:avLst/>
          </a:prstGeom>
          <a:solidFill>
            <a:srgbClr val="E07A2C"/>
          </a:solidFill>
          <a:ln/>
        </p:spPr>
      </p:sp>
      <p:sp>
        <p:nvSpPr>
          <p:cNvPr id="26" name="Shape 24"/>
          <p:cNvSpPr/>
          <p:nvPr/>
        </p:nvSpPr>
        <p:spPr>
          <a:xfrm>
            <a:off x="6885432" y="2734056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85432" y="2734056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29116" y="3136392"/>
            <a:ext cx="164592" cy="91440"/>
          </a:xfrm>
          <a:prstGeom prst="downArrow">
            <a:avLst/>
          </a:prstGeom>
          <a:solidFill>
            <a:srgbClr val="E07A2C"/>
          </a:solidFill>
          <a:ln/>
        </p:spPr>
      </p:sp>
      <p:sp>
        <p:nvSpPr>
          <p:cNvPr id="29" name="Shape 27"/>
          <p:cNvSpPr/>
          <p:nvPr/>
        </p:nvSpPr>
        <p:spPr>
          <a:xfrm>
            <a:off x="6885432" y="3246120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85432" y="3246120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29116" y="3648456"/>
            <a:ext cx="164592" cy="91440"/>
          </a:xfrm>
          <a:prstGeom prst="downArrow">
            <a:avLst/>
          </a:prstGeom>
          <a:solidFill>
            <a:srgbClr val="E07A2C"/>
          </a:solidFill>
          <a:ln/>
        </p:spPr>
      </p:sp>
      <p:sp>
        <p:nvSpPr>
          <p:cNvPr id="32" name="Shape 30"/>
          <p:cNvSpPr/>
          <p:nvPr/>
        </p:nvSpPr>
        <p:spPr>
          <a:xfrm>
            <a:off x="6885432" y="3758184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85432" y="3758184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STATE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29116" y="4160520"/>
            <a:ext cx="164592" cy="91440"/>
          </a:xfrm>
          <a:prstGeom prst="downArrow">
            <a:avLst/>
          </a:prstGeom>
          <a:solidFill>
            <a:srgbClr val="E07A2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85432" y="4270248"/>
            <a:ext cx="42519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2C"/>
            </a:solidFill>
            <a:prstDash val="solid"/>
          </a:ln>
          <a:effectLst>
            <a:outerShdw blurRad="38100" dist="127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85432" y="4270248"/>
            <a:ext cx="4251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8A4A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NEXT ACTION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11112" y="4910328"/>
            <a:ext cx="4800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Off-policy — learns independently of the acting policy.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Learns toward the best possible next action (max Q).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MLA0301 – Reinforcement Learning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57432" y="6547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4B8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Sample Efficiency and Performance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vs TD(0) vs SARSA vs Q-Learning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480" cy="2331720"/>
        </p:xfrm>
        <a:graphic>
          <a:graphicData uri="http://schemas.openxmlformats.org/drawingml/2006/table">
            <a:tbl>
              <a:tblPr/>
              <a:tblGrid>
                <a:gridCol w="2819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MONTE CARLO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TD(0)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SARSA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Q-LEARNING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0"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 episode required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Updates at episode end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 return estimation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Less suitable for long episodes</a:t>
                      </a:r>
                      <a:endParaRPr lang="en-US" sz="1200" dirty="0"/>
                    </a:p>
                  </a:txBody>
                  <a:tcPr marL="128016" marR="128016" marT="91440" marB="91440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Step-by-step updates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complete episode required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Often learns faster</a:t>
                      </a:r>
                      <a:endParaRPr lang="en-US" sz="1200" dirty="0"/>
                    </a:p>
                  </a:txBody>
                  <a:tcPr marL="128016" marR="128016" marT="91440" marB="91440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On-policy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Considers actual behavior</a:t>
                      </a:r>
                      <a:endParaRPr lang="en-US" sz="1200" dirty="0"/>
                    </a:p>
                  </a:txBody>
                  <a:tcPr marL="128016" marR="128016" marT="91440" marB="91440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Off-policy</a:t>
                      </a:r>
                      <a:endParaRPr lang="en-US" sz="1200" dirty="0"/>
                    </a:p>
                    <a:p>
                      <a:pPr marL="152400" indent="-152400">
                        <a:spcAft>
                          <a:spcPts val="800"/>
                        </a:spcAft>
                        <a:buSzPct val="100000"/>
                        <a:buChar char="●"/>
                      </a:pPr>
                      <a:r>
                        <a:rPr lang="en-US" sz="1550" dirty="0">
                          <a:solidFill>
                            <a:srgbClr val="23232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Targets optimal future action</a:t>
                      </a:r>
                      <a:endParaRPr lang="en-US" sz="1200" dirty="0"/>
                    </a:p>
                  </a:txBody>
                  <a:tcPr marL="128016" marR="128016" marT="91440" marB="91440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4B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Learning Trend</a:t>
            </a:r>
            <a:endParaRPr lang="en-US" sz="2000" dirty="0"/>
          </a:p>
        </p:txBody>
      </p:sp>
      <p:sp>
        <p:nvSpPr>
          <p:cNvPr id="4" name="Text 3"/>
          <p:cNvSpPr/>
          <p:nvPr/>
        </p:nvSpPr>
        <p:spPr>
          <a:xfrm>
            <a:off x="356616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(conceptual illustration, not experimental data)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4297680"/>
          <a:ext cx="11274552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MLA0301 – Reinforcement Learning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57432" y="6547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4B8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7C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 from the Comparative Study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learns from complete, actual returns observed at the end of an episode.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Temporal-Difference learning learns from bootstrapped, estimated returns.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SARSA is an on-policy control method — it learns from the action actually taken.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Q-Learning is an off-policy control method — it learns toward the optimal action.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323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 methods provide frequent updates, making them well suited to long or continuing tasks.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80160" y="4160520"/>
            <a:ext cx="9628632" cy="1417320"/>
          </a:xfrm>
          <a:prstGeom prst="roundRect">
            <a:avLst>
              <a:gd name="adj" fmla="val 6452"/>
            </a:avLst>
          </a:prstGeom>
          <a:solidFill>
            <a:srgbClr val="EAF1FB"/>
          </a:solidFill>
          <a:ln w="22225">
            <a:solidFill>
              <a:srgbClr val="1B4B8C"/>
            </a:solidFill>
            <a:prstDash val="solid"/>
          </a:ln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4549140"/>
            <a:ext cx="640080" cy="640080"/>
          </a:xfrm>
          <a:prstGeom prst="ellipse">
            <a:avLst/>
          </a:prstGeom>
          <a:solidFill>
            <a:srgbClr val="E07A2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491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88752" y="45491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10588752" y="45491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4160520"/>
            <a:ext cx="8714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i="1" dirty="0">
                <a:solidFill>
                  <a:srgbClr val="1233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“Monte Carlo waits for the outcome; TD learns while the outcome is unfolding.”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MLA0301 – Reinforcement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57432" y="6547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626</Words>
  <Application>Microsoft Office PowerPoint</Application>
  <PresentationFormat>Custom</PresentationFormat>
  <Paragraphs>126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Batang</vt:lpstr>
      <vt:lpstr>Arial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Sirivally Singari</cp:lastModifiedBy>
  <cp:revision>2</cp:revision>
  <dcterms:created xsi:type="dcterms:W3CDTF">2026-08-18T06:06:36Z</dcterms:created>
  <dcterms:modified xsi:type="dcterms:W3CDTF">2026-08-18T06:14:38Z</dcterms:modified>
</cp:coreProperties>
</file>