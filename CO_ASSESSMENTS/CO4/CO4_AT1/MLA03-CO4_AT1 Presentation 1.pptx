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26" dt="2026-08-18T05:54:12.484"/>
    <p1510:client id="{86A168A1-4141-1CC2-2D88-E242D56F037E}" v="11" dt="2026-08-18T04:53:57.5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301" y="3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00000000-0000-0000-0000-000000000000}"/>
    <pc:docChg chg="addSld delSld modSld">
      <pc:chgData name="Guest User" userId="" providerId="Windows Live" clId="Web-{00000000-0000-0000-0000-000000000000}" dt="2026-08-18T05:54:12.484" v="66"/>
      <pc:docMkLst>
        <pc:docMk/>
      </pc:docMkLst>
      <pc:sldChg chg="addSp delSp modSp">
        <pc:chgData name="Guest User" userId="" providerId="Windows Live" clId="Web-{00000000-0000-0000-0000-000000000000}" dt="2026-08-18T03:46:37.638" v="50" actId="1076"/>
        <pc:sldMkLst>
          <pc:docMk/>
          <pc:sldMk cId="0" sldId="258"/>
        </pc:sldMkLst>
        <pc:picChg chg="add del mod">
          <ac:chgData name="Guest User" userId="" providerId="Windows Live" clId="Web-{00000000-0000-0000-0000-000000000000}" dt="2026-08-18T03:45:42.464" v="47"/>
          <ac:picMkLst>
            <pc:docMk/>
            <pc:sldMk cId="0" sldId="258"/>
            <ac:picMk id="21" creationId="{0BC976DD-D08A-57B2-7DE2-DCB1970D94D0}"/>
          </ac:picMkLst>
        </pc:picChg>
        <pc:picChg chg="del">
          <ac:chgData name="Guest User" userId="" providerId="Windows Live" clId="Web-{00000000-0000-0000-0000-000000000000}" dt="2026-08-18T03:42:09.847" v="25"/>
          <ac:picMkLst>
            <pc:docMk/>
            <pc:sldMk cId="0" sldId="258"/>
            <ac:picMk id="23" creationId="{00000000-0000-0000-0000-000000000000}"/>
          </ac:picMkLst>
        </pc:picChg>
        <pc:picChg chg="add mod">
          <ac:chgData name="Guest User" userId="" providerId="Windows Live" clId="Web-{00000000-0000-0000-0000-000000000000}" dt="2026-08-18T03:46:37.638" v="50" actId="1076"/>
          <ac:picMkLst>
            <pc:docMk/>
            <pc:sldMk cId="0" sldId="258"/>
            <ac:picMk id="24" creationId="{6315DDD3-7E1B-4628-4F33-A8C4841FC251}"/>
          </ac:picMkLst>
        </pc:picChg>
      </pc:sldChg>
      <pc:sldChg chg="addSp delSp modSp">
        <pc:chgData name="Guest User" userId="" providerId="Windows Live" clId="Web-{00000000-0000-0000-0000-000000000000}" dt="2026-08-18T03:45:23.604" v="44" actId="14100"/>
        <pc:sldMkLst>
          <pc:docMk/>
          <pc:sldMk cId="0" sldId="260"/>
        </pc:sldMkLst>
        <pc:spChg chg="mod">
          <ac:chgData name="Guest User" userId="" providerId="Windows Live" clId="Web-{00000000-0000-0000-0000-000000000000}" dt="2026-08-18T03:45:05.197" v="41" actId="1076"/>
          <ac:spMkLst>
            <pc:docMk/>
            <pc:sldMk cId="0" sldId="260"/>
            <ac:spMk id="5" creationId="{00000000-0000-0000-0000-000000000000}"/>
          </ac:spMkLst>
        </pc:spChg>
        <pc:spChg chg="mod">
          <ac:chgData name="Guest User" userId="" providerId="Windows Live" clId="Web-{00000000-0000-0000-0000-000000000000}" dt="2026-08-18T03:45:12.385" v="42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Guest User" userId="" providerId="Windows Live" clId="Web-{00000000-0000-0000-0000-000000000000}" dt="2026-08-18T03:45:16.979" v="43" actId="1076"/>
          <ac:spMkLst>
            <pc:docMk/>
            <pc:sldMk cId="0" sldId="260"/>
            <ac:spMk id="8" creationId="{00000000-0000-0000-0000-000000000000}"/>
          </ac:spMkLst>
        </pc:spChg>
        <pc:spChg chg="mod">
          <ac:chgData name="Guest User" userId="" providerId="Windows Live" clId="Web-{00000000-0000-0000-0000-000000000000}" dt="2026-08-18T03:39:54.248" v="23" actId="1076"/>
          <ac:spMkLst>
            <pc:docMk/>
            <pc:sldMk cId="0" sldId="260"/>
            <ac:spMk id="11" creationId="{00000000-0000-0000-0000-000000000000}"/>
          </ac:spMkLst>
        </pc:spChg>
        <pc:picChg chg="add mod modCrop">
          <ac:chgData name="Guest User" userId="" providerId="Windows Live" clId="Web-{00000000-0000-0000-0000-000000000000}" dt="2026-08-18T03:45:23.604" v="44" actId="14100"/>
          <ac:picMkLst>
            <pc:docMk/>
            <pc:sldMk cId="0" sldId="260"/>
            <ac:picMk id="16" creationId="{2D9395F3-A309-D7C8-D754-03294A5BC06D}"/>
          </ac:picMkLst>
        </pc:picChg>
        <pc:picChg chg="del">
          <ac:chgData name="Guest User" userId="" providerId="Windows Live" clId="Web-{00000000-0000-0000-0000-000000000000}" dt="2026-08-18T03:44:35.681" v="35"/>
          <ac:picMkLst>
            <pc:docMk/>
            <pc:sldMk cId="0" sldId="260"/>
            <ac:picMk id="21" creationId="{00000000-0000-0000-0000-000000000000}"/>
          </ac:picMkLst>
        </pc:picChg>
        <pc:cxnChg chg="mod">
          <ac:chgData name="Guest User" userId="" providerId="Windows Live" clId="Web-{00000000-0000-0000-0000-000000000000}" dt="2026-08-18T03:39:54.248" v="23" actId="1076"/>
          <ac:cxnSpMkLst>
            <pc:docMk/>
            <pc:sldMk cId="0" sldId="260"/>
            <ac:cxnSpMk id="14" creationId="{00000000-0000-0000-0000-000000000000}"/>
          </ac:cxnSpMkLst>
        </pc:cxnChg>
        <pc:cxnChg chg="mod">
          <ac:chgData name="Guest User" userId="" providerId="Windows Live" clId="Web-{00000000-0000-0000-0000-000000000000}" dt="2026-08-18T03:39:54.248" v="23" actId="1076"/>
          <ac:cxnSpMkLst>
            <pc:docMk/>
            <pc:sldMk cId="0" sldId="260"/>
            <ac:cxnSpMk id="15" creationId="{00000000-0000-0000-0000-000000000000}"/>
          </ac:cxnSpMkLst>
        </pc:cxnChg>
      </pc:sldChg>
      <pc:sldChg chg="addSp delSp modSp">
        <pc:chgData name="Guest User" userId="" providerId="Windows Live" clId="Web-{00000000-0000-0000-0000-000000000000}" dt="2026-08-18T05:54:12.484" v="66"/>
        <pc:sldMkLst>
          <pc:docMk/>
          <pc:sldMk cId="0" sldId="266"/>
        </pc:sldMkLst>
        <pc:spChg chg="mod">
          <ac:chgData name="Guest User" userId="" providerId="Windows Live" clId="Web-{00000000-0000-0000-0000-000000000000}" dt="2026-08-18T05:53:46.405" v="60" actId="1076"/>
          <ac:spMkLst>
            <pc:docMk/>
            <pc:sldMk cId="0" sldId="266"/>
            <ac:spMk id="3" creationId="{00000000-0000-0000-0000-000000000000}"/>
          </ac:spMkLst>
        </pc:spChg>
        <pc:spChg chg="mod">
          <ac:chgData name="Guest User" userId="" providerId="Windows Live" clId="Web-{00000000-0000-0000-0000-000000000000}" dt="2026-08-18T05:53:39.952" v="59" actId="1076"/>
          <ac:spMkLst>
            <pc:docMk/>
            <pc:sldMk cId="0" sldId="266"/>
            <ac:spMk id="4" creationId="{00000000-0000-0000-0000-000000000000}"/>
          </ac:spMkLst>
        </pc:spChg>
        <pc:spChg chg="mod">
          <ac:chgData name="Guest User" userId="" providerId="Windows Live" clId="Web-{00000000-0000-0000-0000-000000000000}" dt="2026-08-18T05:53:35.764" v="58" actId="1076"/>
          <ac:spMkLst>
            <pc:docMk/>
            <pc:sldMk cId="0" sldId="266"/>
            <ac:spMk id="5" creationId="{00000000-0000-0000-0000-000000000000}"/>
          </ac:spMkLst>
        </pc:spChg>
        <pc:spChg chg="mod">
          <ac:chgData name="Guest User" userId="" providerId="Windows Live" clId="Web-{00000000-0000-0000-0000-000000000000}" dt="2026-08-18T05:53:30.670" v="57" actId="1076"/>
          <ac:spMkLst>
            <pc:docMk/>
            <pc:sldMk cId="0" sldId="266"/>
            <ac:spMk id="8" creationId="{90C8F386-6C65-E4C8-B487-DFED994EAA6C}"/>
          </ac:spMkLst>
        </pc:spChg>
        <pc:spChg chg="add mod">
          <ac:chgData name="Guest User" userId="" providerId="Windows Live" clId="Web-{00000000-0000-0000-0000-000000000000}" dt="2026-08-18T05:54:12.484" v="66"/>
          <ac:spMkLst>
            <pc:docMk/>
            <pc:sldMk cId="0" sldId="266"/>
            <ac:spMk id="10" creationId="{DD7BB44A-8B71-1A6B-FD41-5F1C22B539B0}"/>
          </ac:spMkLst>
        </pc:spChg>
        <pc:picChg chg="add del mod">
          <ac:chgData name="Guest User" userId="" providerId="Windows Live" clId="Web-{00000000-0000-0000-0000-000000000000}" dt="2026-08-18T05:53:22.060" v="55"/>
          <ac:picMkLst>
            <pc:docMk/>
            <pc:sldMk cId="0" sldId="266"/>
            <ac:picMk id="6" creationId="{999DD126-EFDE-A50C-47CA-B0BF659F89AE}"/>
          </ac:picMkLst>
        </pc:picChg>
        <pc:picChg chg="add mod">
          <ac:chgData name="Guest User" userId="" providerId="Windows Live" clId="Web-{00000000-0000-0000-0000-000000000000}" dt="2026-08-18T05:53:19.842" v="54" actId="1076"/>
          <ac:picMkLst>
            <pc:docMk/>
            <pc:sldMk cId="0" sldId="266"/>
            <ac:picMk id="7" creationId="{520E85FF-9132-92E9-3707-B6C0E7650320}"/>
          </ac:picMkLst>
        </pc:picChg>
        <pc:picChg chg="add mod">
          <ac:chgData name="Guest User" userId="" providerId="Windows Live" clId="Web-{00000000-0000-0000-0000-000000000000}" dt="2026-08-18T05:54:04.124" v="64" actId="14100"/>
          <ac:picMkLst>
            <pc:docMk/>
            <pc:sldMk cId="0" sldId="266"/>
            <ac:picMk id="9" creationId="{772A497C-E7CB-6D8C-193E-94CB63FC3F1E}"/>
          </ac:picMkLst>
        </pc:picChg>
      </pc:sldChg>
      <pc:sldChg chg="addSp delSp modSp new add del mod setBg">
        <pc:chgData name="Guest User" userId="" providerId="Windows Live" clId="Web-{00000000-0000-0000-0000-000000000000}" dt="2026-08-17T17:31:03.873" v="22"/>
        <pc:sldMkLst>
          <pc:docMk/>
          <pc:sldMk cId="4084401845" sldId="268"/>
        </pc:sldMkLst>
        <pc:spChg chg="add del mod">
          <ac:chgData name="Guest User" userId="" providerId="Windows Live" clId="Web-{00000000-0000-0000-0000-000000000000}" dt="2026-08-17T17:28:04.913" v="5"/>
          <ac:spMkLst>
            <pc:docMk/>
            <pc:sldMk cId="4084401845" sldId="268"/>
            <ac:spMk id="2" creationId="{7B126181-364D-3CC2-6058-C46E7D5D9B35}"/>
          </ac:spMkLst>
        </pc:spChg>
        <pc:spChg chg="add del">
          <ac:chgData name="Guest User" userId="" providerId="Windows Live" clId="Web-{00000000-0000-0000-0000-000000000000}" dt="2026-08-17T17:31:03.873" v="22"/>
          <ac:spMkLst>
            <pc:docMk/>
            <pc:sldMk cId="4084401845" sldId="268"/>
            <ac:spMk id="8" creationId="{69D184B2-2226-4E31-BCCB-444330767440}"/>
          </ac:spMkLst>
        </pc:spChg>
        <pc:spChg chg="add del">
          <ac:chgData name="Guest User" userId="" providerId="Windows Live" clId="Web-{00000000-0000-0000-0000-000000000000}" dt="2026-08-17T17:31:03.873" v="22"/>
          <ac:spMkLst>
            <pc:docMk/>
            <pc:sldMk cId="4084401845" sldId="268"/>
            <ac:spMk id="10" creationId="{1AC4D4E3-486A-464A-8EC8-D44881097267}"/>
          </ac:spMkLst>
        </pc:spChg>
        <pc:spChg chg="add del">
          <ac:chgData name="Guest User" userId="" providerId="Windows Live" clId="Web-{00000000-0000-0000-0000-000000000000}" dt="2026-08-17T17:31:03.873" v="22"/>
          <ac:spMkLst>
            <pc:docMk/>
            <pc:sldMk cId="4084401845" sldId="268"/>
            <ac:spMk id="12" creationId="{864DE13E-58EB-4475-B79C-0D4FC651239B}"/>
          </ac:spMkLst>
        </pc:spChg>
        <pc:spChg chg="add">
          <ac:chgData name="Guest User" userId="" providerId="Windows Live" clId="Web-{00000000-0000-0000-0000-000000000000}" dt="2026-08-17T17:31:03.873" v="22"/>
          <ac:spMkLst>
            <pc:docMk/>
            <pc:sldMk cId="4084401845" sldId="268"/>
            <ac:spMk id="17" creationId="{69D184B2-2226-4E31-BCCB-444330767440}"/>
          </ac:spMkLst>
        </pc:spChg>
        <pc:spChg chg="add">
          <ac:chgData name="Guest User" userId="" providerId="Windows Live" clId="Web-{00000000-0000-0000-0000-000000000000}" dt="2026-08-17T17:31:03.873" v="22"/>
          <ac:spMkLst>
            <pc:docMk/>
            <pc:sldMk cId="4084401845" sldId="268"/>
            <ac:spMk id="19" creationId="{1AC4D4E3-486A-464A-8EC8-D44881097267}"/>
          </ac:spMkLst>
        </pc:spChg>
        <pc:spChg chg="add">
          <ac:chgData name="Guest User" userId="" providerId="Windows Live" clId="Web-{00000000-0000-0000-0000-000000000000}" dt="2026-08-17T17:31:03.873" v="22"/>
          <ac:spMkLst>
            <pc:docMk/>
            <pc:sldMk cId="4084401845" sldId="268"/>
            <ac:spMk id="21" creationId="{864DE13E-58EB-4475-B79C-0D4FC651239B}"/>
          </ac:spMkLst>
        </pc:spChg>
        <pc:picChg chg="add del mod">
          <ac:chgData name="Guest User" userId="" providerId="Windows Live" clId="Web-{00000000-0000-0000-0000-000000000000}" dt="2026-08-17T17:30:11.418" v="9"/>
          <ac:picMkLst>
            <pc:docMk/>
            <pc:sldMk cId="4084401845" sldId="268"/>
            <ac:picMk id="3" creationId="{A18018C2-7B94-F861-921C-2CF6F54E4EDA}"/>
          </ac:picMkLst>
        </pc:picChg>
        <pc:picChg chg="add del mod modCrop">
          <ac:chgData name="Guest User" userId="" providerId="Windows Live" clId="Web-{00000000-0000-0000-0000-000000000000}" dt="2026-08-17T17:30:20.434" v="15"/>
          <ac:picMkLst>
            <pc:docMk/>
            <pc:sldMk cId="4084401845" sldId="268"/>
            <ac:picMk id="4" creationId="{0D9BAF44-2F38-FFCC-9F6B-86C3C9736C6C}"/>
          </ac:picMkLst>
        </pc:picChg>
        <pc:picChg chg="add mod">
          <ac:chgData name="Guest User" userId="" providerId="Windows Live" clId="Web-{00000000-0000-0000-0000-000000000000}" dt="2026-08-17T17:31:03.873" v="22"/>
          <ac:picMkLst>
            <pc:docMk/>
            <pc:sldMk cId="4084401845" sldId="268"/>
            <ac:picMk id="5" creationId="{9285D473-8F6C-6190-D79A-83272B0F1AF0}"/>
          </ac:picMkLst>
        </pc:picChg>
      </pc:sldChg>
    </pc:docChg>
  </pc:docChgLst>
  <pc:docChgLst>
    <pc:chgData name="Guest User" providerId="Windows Live" clId="Web-{86A168A1-4141-1CC2-2D88-E242D56F037E}"/>
    <pc:docChg chg="modSld">
      <pc:chgData name="Guest User" userId="" providerId="Windows Live" clId="Web-{86A168A1-4141-1CC2-2D88-E242D56F037E}" dt="2026-08-18T04:53:57.512" v="10" actId="1076"/>
      <pc:docMkLst>
        <pc:docMk/>
      </pc:docMkLst>
      <pc:sldChg chg="modSp">
        <pc:chgData name="Guest User" userId="" providerId="Windows Live" clId="Web-{86A168A1-4141-1CC2-2D88-E242D56F037E}" dt="2026-08-18T04:53:57.512" v="10" actId="1076"/>
        <pc:sldMkLst>
          <pc:docMk/>
          <pc:sldMk cId="0" sldId="258"/>
        </pc:sldMkLst>
        <pc:picChg chg="mod modCrop">
          <ac:chgData name="Guest User" userId="" providerId="Windows Live" clId="Web-{86A168A1-4141-1CC2-2D88-E242D56F037E}" dt="2026-08-18T04:53:57.512" v="10" actId="1076"/>
          <ac:picMkLst>
            <pc:docMk/>
            <pc:sldMk cId="0" sldId="258"/>
            <ac:picMk id="24" creationId="{6315DDD3-7E1B-4628-4F33-A8C4841FC251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/>
            </a:pPr>
            <a:r>
              <a:rPr lang="en-US"/>
              <a:t>Illustrative PPO learning trend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reward</c:v>
                </c:pt>
              </c:strCache>
            </c:strRef>
          </c:tx>
          <c:marker>
            <c:symbol val="none"/>
          </c:marker>
          <c:cat>
            <c:numRef>
              <c:f>Sheet1!$A$2:$A$7</c:f>
              <c:numCache>
                <c:formatCode>General</c:formatCode>
                <c:ptCount val="6"/>
                <c:pt idx="0">
                  <c:v>1</c:v>
                </c:pt>
                <c:pt idx="1">
                  <c:v>20</c:v>
                </c:pt>
                <c:pt idx="2">
                  <c:v>40</c:v>
                </c:pt>
                <c:pt idx="3">
                  <c:v>60</c:v>
                </c:pt>
                <c:pt idx="4">
                  <c:v>80</c:v>
                </c:pt>
                <c:pt idx="5">
                  <c:v>100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</c:v>
                </c:pt>
                <c:pt idx="1">
                  <c:v>35</c:v>
                </c:pt>
                <c:pt idx="2">
                  <c:v>55</c:v>
                </c:pt>
                <c:pt idx="3">
                  <c:v>80</c:v>
                </c:pt>
                <c:pt idx="4">
                  <c:v>120</c:v>
                </c:pt>
                <c:pt idx="5">
                  <c:v>170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91A-4F99-A9C8-10D6C1B091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7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696720" y="3504814"/>
            <a:ext cx="8802410" cy="1138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900" b="1">
                <a:solidFill>
                  <a:srgbClr val="1E2D41"/>
                </a:solidFill>
                <a:latin typeface="Aptos Display"/>
              </a:defRPr>
            </a:pPr>
            <a:r>
              <a:rPr sz="3400" dirty="0">
                <a:latin typeface="Batang" panose="02030600000101010101" pitchFamily="18" charset="-127"/>
                <a:ea typeface="Batang" panose="02030600000101010101" pitchFamily="18" charset="-127"/>
              </a:rPr>
              <a:t>Advanced Policy Optimization Techniques</a:t>
            </a:r>
            <a:br>
              <a:rPr sz="3400" dirty="0">
                <a:latin typeface="Batang" panose="02030600000101010101" pitchFamily="18" charset="-127"/>
                <a:ea typeface="Batang" panose="02030600000101010101" pitchFamily="18" charset="-127"/>
              </a:rPr>
            </a:br>
            <a:r>
              <a:rPr sz="3400" dirty="0">
                <a:latin typeface="Batang" panose="02030600000101010101" pitchFamily="18" charset="-127"/>
                <a:ea typeface="Batang" panose="02030600000101010101" pitchFamily="18" charset="-127"/>
              </a:rPr>
              <a:t>in Deep Reinforcement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54466" y="2484066"/>
            <a:ext cx="526798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75A8C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MLA0301 - REINFORCEMENT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1570" y="5449398"/>
            <a:ext cx="2480743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14B5A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  <a:defRPr sz="1800">
                <a:solidFill>
                  <a:srgbClr val="414B5A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Sirivally (192472371)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C8F386-6C65-E4C8-B487-DFED994EAA6C}"/>
              </a:ext>
            </a:extLst>
          </p:cNvPr>
          <p:cNvSpPr txBox="1"/>
          <p:nvPr/>
        </p:nvSpPr>
        <p:spPr>
          <a:xfrm>
            <a:off x="692331" y="5462996"/>
            <a:ext cx="6139542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14B5A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 </a:t>
            </a:r>
          </a:p>
          <a:p>
            <a:pPr>
              <a:spcAft>
                <a:spcPts val="1200"/>
              </a:spcAft>
              <a:defRPr sz="1800">
                <a:solidFill>
                  <a:srgbClr val="414B5A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Senthil G 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0E85FF-9132-92E9-3707-B6C0E7650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30" y="369570"/>
            <a:ext cx="1546860" cy="14351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2A497C-E7CB-6D8C-193E-94CB63FC3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0975" y="369570"/>
            <a:ext cx="1690370" cy="14351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77C65BA-2451-DBE6-B9B6-D65F028A2792}"/>
              </a:ext>
            </a:extLst>
          </p:cNvPr>
          <p:cNvSpPr txBox="1"/>
          <p:nvPr/>
        </p:nvSpPr>
        <p:spPr>
          <a:xfrm>
            <a:off x="2952345" y="548628"/>
            <a:ext cx="6141562" cy="1459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sz="2800" spc="-25" dirty="0">
                <a:latin typeface="Times New Roman"/>
                <a:cs typeface="Times New Roman"/>
              </a:rPr>
              <a:t>SIMATS</a:t>
            </a:r>
            <a:r>
              <a:rPr lang="en-IN" sz="2800" spc="-125" dirty="0">
                <a:latin typeface="Times New Roman"/>
                <a:cs typeface="Times New Roman"/>
              </a:rPr>
              <a:t>  </a:t>
            </a:r>
            <a:r>
              <a:rPr lang="en-IN" sz="2800" spc="-10" dirty="0">
                <a:latin typeface="Times New Roman"/>
                <a:cs typeface="Times New Roman"/>
              </a:rPr>
              <a:t>ENGINEERING</a:t>
            </a:r>
          </a:p>
          <a:p>
            <a:pPr marL="12700" algn="ctr">
              <a:spcBef>
                <a:spcPts val="100"/>
              </a:spcBef>
            </a:pPr>
            <a:r>
              <a:rPr lang="en-US" sz="2000" b="1" spc="-55" dirty="0">
                <a:latin typeface="Times New Roman"/>
                <a:cs typeface="Times New Roman"/>
              </a:rPr>
              <a:t>SAVEETHA</a:t>
            </a:r>
            <a:r>
              <a:rPr lang="en-US" sz="2000" b="1" spc="-110" dirty="0">
                <a:latin typeface="Times New Roman"/>
                <a:cs typeface="Times New Roman"/>
              </a:rPr>
              <a:t> </a:t>
            </a:r>
            <a:r>
              <a:rPr lang="en-US" sz="2000" b="1" spc="-10" dirty="0">
                <a:latin typeface="Times New Roman"/>
                <a:cs typeface="Times New Roman"/>
              </a:rPr>
              <a:t>INSTITUTE</a:t>
            </a:r>
            <a:r>
              <a:rPr lang="en-US" sz="2000" b="1" dirty="0">
                <a:latin typeface="Times New Roman"/>
                <a:cs typeface="Times New Roman"/>
              </a:rPr>
              <a:t> OF</a:t>
            </a:r>
            <a:r>
              <a:rPr lang="en-US" sz="2000" b="1" spc="-75" dirty="0">
                <a:latin typeface="Times New Roman"/>
                <a:cs typeface="Times New Roman"/>
              </a:rPr>
              <a:t> </a:t>
            </a:r>
            <a:r>
              <a:rPr lang="en-US" sz="2000" b="1" spc="-25" dirty="0">
                <a:latin typeface="Times New Roman"/>
                <a:cs typeface="Times New Roman"/>
              </a:rPr>
              <a:t>MEDICAL </a:t>
            </a:r>
            <a:r>
              <a:rPr lang="en-US" sz="2000" b="1" spc="-220" dirty="0">
                <a:latin typeface="Times New Roman"/>
                <a:cs typeface="Times New Roman"/>
              </a:rPr>
              <a:t> </a:t>
            </a:r>
            <a:r>
              <a:rPr lang="en-US" sz="2000" b="1" spc="-25" dirty="0">
                <a:latin typeface="Times New Roman"/>
                <a:cs typeface="Times New Roman"/>
              </a:rPr>
              <a:t>AND TECHNICAL</a:t>
            </a:r>
            <a:r>
              <a:rPr lang="en-US" sz="2000" b="1" spc="-55" dirty="0">
                <a:latin typeface="Times New Roman"/>
                <a:cs typeface="Times New Roman"/>
              </a:rPr>
              <a:t> </a:t>
            </a:r>
            <a:r>
              <a:rPr lang="en-US" sz="2000" b="1" spc="-10" dirty="0">
                <a:latin typeface="Times New Roman"/>
                <a:cs typeface="Times New Roman"/>
              </a:rPr>
              <a:t>SCIENCES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IN" sz="2000" spc="-1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94943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ptos Display"/>
              </a:defRPr>
            </a:pPr>
            <a:r>
              <a:rPr dirty="0">
                <a:latin typeface="Batang"/>
                <a:ea typeface="Batang"/>
              </a:rPr>
              <a:t>Advanced Policy Optimization in Deep Reinforcement Learning</a:t>
            </a:r>
            <a:endParaRPr lang="en-US" dirty="0">
              <a:latin typeface="Batang"/>
              <a:ea typeface="Batang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67360" y="2087880"/>
            <a:ext cx="3246120" cy="3291840"/>
          </a:xfrm>
          <a:prstGeom prst="roundRect">
            <a:avLst/>
          </a:prstGeom>
          <a:solidFill>
            <a:srgbClr val="F5F8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55600" y="2138680"/>
            <a:ext cx="73152" cy="3291840"/>
          </a:xfrm>
          <a:prstGeom prst="rect">
            <a:avLst/>
          </a:prstGeom>
          <a:solidFill>
            <a:srgbClr val="2D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074160" y="1818640"/>
            <a:ext cx="1920240" cy="9144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23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2D4B"/>
                </a:solidFill>
                <a:latin typeface="Aptos"/>
              </a:defRPr>
            </a:pPr>
            <a:r>
              <a:t>STATE</a:t>
            </a:r>
            <a:br/>
            <a:r>
              <a:t>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61200" y="1818640"/>
            <a:ext cx="1920240" cy="9144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2D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2D4B"/>
                </a:solidFill>
                <a:latin typeface="Aptos"/>
              </a:defRPr>
            </a:pPr>
            <a:r>
              <a:t>POLICY</a:t>
            </a:r>
            <a:br/>
            <a:r>
              <a:t>π(a|s)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74160" y="4155439"/>
            <a:ext cx="1920240" cy="9144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E6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2D4B"/>
                </a:solidFill>
                <a:latin typeface="Aptos"/>
              </a:defRPr>
            </a:pPr>
            <a:r>
              <a:t>ACTION</a:t>
            </a:r>
            <a:br/>
            <a:r>
              <a:t>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61200" y="4155439"/>
            <a:ext cx="1920240" cy="9144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369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2D4B"/>
                </a:solidFill>
                <a:latin typeface="Aptos"/>
              </a:defRPr>
            </a:pPr>
            <a:r>
              <a:t>REWARD</a:t>
            </a:r>
            <a:br/>
            <a:r>
              <a:t>r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5994400" y="2275840"/>
            <a:ext cx="1066800" cy="10160"/>
          </a:xfrm>
          <a:prstGeom prst="line">
            <a:avLst/>
          </a:prstGeom>
          <a:ln w="25400">
            <a:solidFill>
              <a:srgbClr val="2D7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5247640" y="2743200"/>
            <a:ext cx="2794000" cy="1381759"/>
          </a:xfrm>
          <a:prstGeom prst="line">
            <a:avLst/>
          </a:prstGeom>
          <a:ln w="25400">
            <a:solidFill>
              <a:srgbClr val="2D7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cxnSpLocks/>
            <a:endCxn id="12" idx="1"/>
          </p:cNvCxnSpPr>
          <p:nvPr/>
        </p:nvCxnSpPr>
        <p:spPr>
          <a:xfrm>
            <a:off x="5994400" y="4561840"/>
            <a:ext cx="1066800" cy="50799"/>
          </a:xfrm>
          <a:prstGeom prst="line">
            <a:avLst/>
          </a:prstGeom>
          <a:ln w="25400">
            <a:solidFill>
              <a:srgbClr val="2D7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8061960" y="2697480"/>
            <a:ext cx="20320" cy="1437639"/>
          </a:xfrm>
          <a:prstGeom prst="line">
            <a:avLst/>
          </a:prstGeom>
          <a:ln w="25400">
            <a:solidFill>
              <a:srgbClr val="64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326880" y="1986280"/>
            <a:ext cx="2519680" cy="3200400"/>
          </a:xfrm>
          <a:prstGeom prst="roundRect">
            <a:avLst/>
          </a:prstGeom>
          <a:solidFill>
            <a:srgbClr val="F5F8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286240" y="1884680"/>
            <a:ext cx="73152" cy="3291840"/>
          </a:xfrm>
          <a:prstGeom prst="rect">
            <a:avLst/>
          </a:prstGeom>
          <a:solidFill>
            <a:srgbClr val="23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A5BEDD-01F7-DA7E-D09E-9895A0039360}"/>
              </a:ext>
            </a:extLst>
          </p:cNvPr>
          <p:cNvSpPr txBox="1"/>
          <p:nvPr/>
        </p:nvSpPr>
        <p:spPr>
          <a:xfrm>
            <a:off x="629920" y="2321560"/>
            <a:ext cx="2915920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b="0" i="0" u="none" strike="noStrike" baseline="0" dirty="0">
                <a:solidFill>
                  <a:srgbClr val="283241"/>
                </a:solidFill>
                <a:latin typeface="Times New Roman"/>
              </a:rPr>
              <a:t>Instead of storing only action values, policy-based methods directly learn a policy π(a|s). They are useful when action choices are large or </a:t>
            </a:r>
            <a:r>
              <a:rPr lang="en-US" b="0" i="0" u="none" strike="noStrike" baseline="0">
                <a:solidFill>
                  <a:srgbClr val="283241"/>
                </a:solidFill>
                <a:latin typeface="Times New Roman"/>
              </a:rPr>
              <a:t>continuous.</a:t>
            </a:r>
            <a:r>
              <a:rPr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​</a:t>
            </a:r>
            <a:br>
              <a:rPr b="0" i="0" dirty="0">
                <a:latin typeface="Times New Roman"/>
                <a:ea typeface="Times New Roman"/>
                <a:cs typeface="Times New Roman"/>
              </a:rPr>
            </a:br>
            <a:r>
              <a:rPr lang="en-US" b="0" i="0" u="none" strike="noStrike" baseline="0">
                <a:solidFill>
                  <a:srgbClr val="283241"/>
                </a:solidFill>
                <a:latin typeface="Times New Roman"/>
              </a:rPr>
              <a:t>Goal: improve expected cumulative </a:t>
            </a:r>
            <a:r>
              <a:rPr lang="en-US" b="0" i="0" u="none" strike="noStrike" baseline="0" dirty="0">
                <a:solidFill>
                  <a:srgbClr val="283241"/>
                </a:solidFill>
                <a:latin typeface="Times New Roman"/>
              </a:rPr>
              <a:t>reward while keeping learning stable</a:t>
            </a:r>
            <a:r>
              <a:rPr lang="en-US" b="0" i="0" u="none" strike="noStrike" baseline="0" dirty="0">
                <a:solidFill>
                  <a:srgbClr val="283241"/>
                </a:solidFill>
                <a:latin typeface="Calibri"/>
              </a:rPr>
              <a:t>.</a:t>
            </a:r>
            <a:r>
              <a:rPr b="0" i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​</a:t>
            </a:r>
            <a:endParaRPr lang="en-US" dirty="0">
              <a:ea typeface="Calibri"/>
              <a:cs typeface="Calibri"/>
            </a:endParaRPr>
          </a:p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D410ADE-A1A4-0086-D4AA-1643F946C26D}"/>
              </a:ext>
            </a:extLst>
          </p:cNvPr>
          <p:cNvSpPr txBox="1"/>
          <p:nvPr/>
        </p:nvSpPr>
        <p:spPr>
          <a:xfrm>
            <a:off x="599440" y="165100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i="0" u="none" strike="noStrike" baseline="0">
                <a:solidFill>
                  <a:srgbClr val="192D4B"/>
                </a:solidFill>
                <a:latin typeface="Times New Roman"/>
              </a:rPr>
              <a:t>Why policy optimization?</a:t>
            </a:r>
            <a:r>
              <a:rPr sz="20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​</a:t>
            </a:r>
            <a:endParaRPr lang="en-US" sz="2000">
              <a:ea typeface="Calibri"/>
              <a:cs typeface="Calibri"/>
            </a:endParaRPr>
          </a:p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A51D23-133D-CF6C-07D3-18D692C41A16}"/>
              </a:ext>
            </a:extLst>
          </p:cNvPr>
          <p:cNvSpPr txBox="1"/>
          <p:nvPr/>
        </p:nvSpPr>
        <p:spPr>
          <a:xfrm>
            <a:off x="9357360" y="2321560"/>
            <a:ext cx="6096000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0" i="0" u="none" strike="noStrike" baseline="0">
                <a:solidFill>
                  <a:srgbClr val="283241"/>
                </a:solidFill>
                <a:latin typeface="Times"/>
              </a:rPr>
              <a:t>TRPO</a:t>
            </a:r>
            <a:r>
              <a:rPr b="0" i="0">
                <a:solidFill>
                  <a:srgbClr val="000000"/>
                </a:solidFill>
                <a:latin typeface="Times"/>
                <a:ea typeface="Times"/>
                <a:cs typeface="Times"/>
              </a:rPr>
              <a:t>​</a:t>
            </a:r>
            <a:br>
              <a:rPr b="0" i="0" dirty="0">
                <a:latin typeface="Times"/>
                <a:ea typeface="Times"/>
                <a:cs typeface="Times"/>
              </a:rPr>
            </a:br>
            <a:r>
              <a:rPr lang="en-US" b="0" i="0" u="none" strike="noStrike" baseline="0">
                <a:solidFill>
                  <a:srgbClr val="283241"/>
                </a:solidFill>
                <a:latin typeface="Times"/>
              </a:rPr>
              <a:t>Safe, constrained updates</a:t>
            </a:r>
            <a:r>
              <a:rPr b="0" i="0">
                <a:solidFill>
                  <a:srgbClr val="000000"/>
                </a:solidFill>
                <a:latin typeface="Times"/>
                <a:ea typeface="Times"/>
                <a:cs typeface="Times"/>
              </a:rPr>
              <a:t>​</a:t>
            </a:r>
            <a:br>
              <a:rPr b="0" i="0" dirty="0">
                <a:latin typeface="Times"/>
                <a:ea typeface="Times"/>
                <a:cs typeface="Times"/>
              </a:rPr>
            </a:br>
            <a:r>
              <a:rPr b="0" i="0">
                <a:solidFill>
                  <a:srgbClr val="000000"/>
                </a:solidFill>
                <a:latin typeface="Times"/>
                <a:ea typeface="Times"/>
                <a:cs typeface="Times"/>
              </a:rPr>
              <a:t>​</a:t>
            </a:r>
            <a:br>
              <a:rPr b="0" i="0" dirty="0">
                <a:latin typeface="Times"/>
                <a:ea typeface="Times"/>
                <a:cs typeface="Times"/>
              </a:rPr>
            </a:br>
            <a:r>
              <a:rPr lang="en-US" b="0" i="0" u="none" strike="noStrike" baseline="0">
                <a:solidFill>
                  <a:srgbClr val="283241"/>
                </a:solidFill>
                <a:latin typeface="Times"/>
              </a:rPr>
              <a:t>PPO</a:t>
            </a:r>
            <a:r>
              <a:rPr b="0" i="0">
                <a:solidFill>
                  <a:srgbClr val="000000"/>
                </a:solidFill>
                <a:latin typeface="Times"/>
                <a:ea typeface="Times"/>
                <a:cs typeface="Times"/>
              </a:rPr>
              <a:t>​</a:t>
            </a:r>
            <a:br>
              <a:rPr b="0" i="0" dirty="0">
                <a:latin typeface="Times"/>
                <a:ea typeface="Times"/>
                <a:cs typeface="Times"/>
              </a:rPr>
            </a:br>
            <a:r>
              <a:rPr lang="en-US" b="0" i="0" u="none" strike="noStrike" baseline="0">
                <a:solidFill>
                  <a:srgbClr val="283241"/>
                </a:solidFill>
                <a:latin typeface="Times"/>
              </a:rPr>
              <a:t>Clipped, practical updates</a:t>
            </a:r>
            <a:r>
              <a:rPr b="0" i="0">
                <a:solidFill>
                  <a:srgbClr val="000000"/>
                </a:solidFill>
                <a:latin typeface="Times"/>
                <a:ea typeface="Times"/>
                <a:cs typeface="Times"/>
              </a:rPr>
              <a:t>​</a:t>
            </a:r>
            <a:br>
              <a:rPr b="0" i="0" dirty="0">
                <a:latin typeface="Times"/>
                <a:ea typeface="Times"/>
                <a:cs typeface="Times"/>
              </a:rPr>
            </a:br>
            <a:r>
              <a:rPr b="0" i="0">
                <a:solidFill>
                  <a:srgbClr val="000000"/>
                </a:solidFill>
                <a:latin typeface="Times"/>
                <a:ea typeface="Times"/>
                <a:cs typeface="Times"/>
              </a:rPr>
              <a:t>​</a:t>
            </a:r>
            <a:br>
              <a:rPr b="0" i="0" dirty="0">
                <a:latin typeface="Times"/>
                <a:ea typeface="Times"/>
                <a:cs typeface="Times"/>
              </a:rPr>
            </a:br>
            <a:r>
              <a:rPr lang="en-US" b="0" i="0" u="none" strike="noStrike" baseline="0">
                <a:solidFill>
                  <a:srgbClr val="283241"/>
                </a:solidFill>
                <a:latin typeface="Times"/>
              </a:rPr>
              <a:t>DDPG</a:t>
            </a:r>
            <a:r>
              <a:rPr b="0" i="0">
                <a:solidFill>
                  <a:srgbClr val="000000"/>
                </a:solidFill>
                <a:latin typeface="Times"/>
                <a:ea typeface="Times"/>
                <a:cs typeface="Times"/>
              </a:rPr>
              <a:t>​</a:t>
            </a:r>
            <a:br>
              <a:rPr b="0" i="0" dirty="0">
                <a:latin typeface="Times"/>
                <a:ea typeface="Times"/>
                <a:cs typeface="Times"/>
              </a:rPr>
            </a:br>
            <a:r>
              <a:rPr lang="en-US" b="0" i="0" u="none" strike="noStrike" baseline="0">
                <a:solidFill>
                  <a:srgbClr val="283241"/>
                </a:solidFill>
                <a:latin typeface="Times"/>
              </a:rPr>
              <a:t>Continuous control</a:t>
            </a:r>
            <a:r>
              <a:rPr b="0" i="0">
                <a:solidFill>
                  <a:srgbClr val="000000"/>
                </a:solidFill>
                <a:latin typeface="Times"/>
                <a:ea typeface="Times"/>
                <a:cs typeface="Times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8DF2FD-C379-29F0-CC3B-2AC7206CDB72}"/>
              </a:ext>
            </a:extLst>
          </p:cNvPr>
          <p:cNvSpPr txBox="1"/>
          <p:nvPr/>
        </p:nvSpPr>
        <p:spPr>
          <a:xfrm>
            <a:off x="9601200" y="154940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i="0" u="none" strike="noStrike" baseline="0">
                <a:solidFill>
                  <a:srgbClr val="192D4B"/>
                </a:solidFill>
                <a:latin typeface="Times New Roman"/>
                <a:cs typeface="Times New Roman"/>
              </a:rPr>
              <a:t>Three methods</a:t>
            </a:r>
            <a:r>
              <a:rPr sz="2000" b="0" i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​</a:t>
            </a:r>
            <a:endParaRPr lang="en-US" sz="2000">
              <a:latin typeface="Times New Roman"/>
              <a:cs typeface="Times New Roman"/>
            </a:endParaRPr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81340"/>
            <a:ext cx="10972800" cy="482183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2800" b="1">
                <a:solidFill>
                  <a:srgbClr val="192D4B"/>
                </a:solidFill>
                <a:latin typeface="Aptos Display"/>
              </a:defRPr>
            </a:pPr>
            <a:r>
              <a:rPr sz="2800" b="1" dirty="0">
                <a:solidFill>
                  <a:srgbClr val="23232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TRPO — Trust Region Policy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9106387" cy="328295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200">
                <a:solidFill>
                  <a:srgbClr val="647080"/>
                </a:solidFill>
                <a:latin typeface="Aptos"/>
              </a:defRPr>
            </a:pPr>
            <a:r>
              <a:rPr sz="1800" b="0" dirty="0">
                <a:solidFill>
                  <a:srgbClr val="232323"/>
                </a:solidFill>
                <a:latin typeface="Times New Roman"/>
                <a:cs typeface="Times New Roman"/>
              </a:rPr>
              <a:t>Stable policy updates by limiting how far the new policy moves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4910" y="1640840"/>
            <a:ext cx="3657600" cy="4389120"/>
          </a:xfrm>
          <a:prstGeom prst="roundRect">
            <a:avLst/>
          </a:prstGeom>
          <a:solidFill>
            <a:srgbClr val="F5F8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0958" y="1600200"/>
            <a:ext cx="73152" cy="4389120"/>
          </a:xfrm>
          <a:prstGeom prst="rect">
            <a:avLst/>
          </a:prstGeom>
          <a:solidFill>
            <a:srgbClr val="2D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6780" y="1743160"/>
            <a:ext cx="3291840" cy="359073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600" b="1">
                <a:solidFill>
                  <a:srgbClr val="192D4B"/>
                </a:solidFill>
              </a:defRPr>
            </a:pPr>
            <a:r>
              <a:rPr sz="2000" b="1" dirty="0">
                <a:solidFill>
                  <a:srgbClr val="232323"/>
                </a:solidFill>
                <a:latin typeface="Times New Roman"/>
              </a:rPr>
              <a:t>Core idea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86939" y="4078271"/>
            <a:ext cx="5253720" cy="2587658"/>
          </a:xfrm>
          <a:prstGeom prst="roundRect">
            <a:avLst/>
          </a:prstGeom>
          <a:solidFill>
            <a:srgbClr val="F5F8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 flipH="1">
            <a:off x="5772969" y="4078271"/>
            <a:ext cx="113970" cy="2587658"/>
          </a:xfrm>
          <a:prstGeom prst="rect">
            <a:avLst/>
          </a:prstGeom>
          <a:solidFill>
            <a:srgbClr val="E6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5063" y="4053593"/>
            <a:ext cx="1828800" cy="41148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  <a:defRPr sz="1600" b="1">
                <a:solidFill>
                  <a:srgbClr val="192D4B"/>
                </a:solidFill>
              </a:defRPr>
            </a:pPr>
            <a:r>
              <a:rPr sz="2000" b="1" dirty="0">
                <a:solidFill>
                  <a:srgbClr val="1C3558"/>
                </a:solidFill>
                <a:latin typeface="Times New Roman"/>
              </a:rPr>
              <a:t>Why useful?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5063" y="4440394"/>
            <a:ext cx="3687567" cy="2262158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283241"/>
                </a:solidFill>
              </a:defRPr>
            </a:pPr>
            <a:r>
              <a:rPr sz="1800" b="0" dirty="0">
                <a:solidFill>
                  <a:srgbClr val="232323"/>
                </a:solidFill>
                <a:latin typeface="Times New Roman"/>
              </a:rPr>
              <a:t>✓ Stable learning</a:t>
            </a:r>
            <a:br>
              <a:rPr dirty="0"/>
            </a:br>
            <a:br>
              <a:rPr dirty="0"/>
            </a:br>
            <a:r>
              <a:rPr sz="1800" b="0" dirty="0">
                <a:solidFill>
                  <a:srgbClr val="232323"/>
                </a:solidFill>
                <a:latin typeface="Times New Roman"/>
              </a:rPr>
              <a:t>✓ Reduces policy collapse</a:t>
            </a:r>
            <a:br>
              <a:rPr dirty="0"/>
            </a:br>
            <a:br>
              <a:rPr dirty="0"/>
            </a:br>
            <a:r>
              <a:rPr sz="1800" b="0" dirty="0">
                <a:solidFill>
                  <a:srgbClr val="232323"/>
                </a:solidFill>
                <a:latin typeface="Times New Roman"/>
              </a:rPr>
              <a:t>✓ Strong theoretical motivation</a:t>
            </a:r>
            <a:br>
              <a:rPr dirty="0"/>
            </a:br>
            <a:br>
              <a:rPr dirty="0"/>
            </a:br>
            <a:r>
              <a:rPr sz="1800" b="0" dirty="0">
                <a:solidFill>
                  <a:srgbClr val="232323"/>
                </a:solidFill>
                <a:latin typeface="Times New Roman"/>
              </a:rPr>
              <a:t>✗ More complex optimization</a:t>
            </a:r>
            <a:br>
              <a:rPr dirty="0"/>
            </a:br>
            <a:br>
              <a:rPr dirty="0"/>
            </a:br>
            <a:r>
              <a:rPr sz="1800" b="0" dirty="0">
                <a:solidFill>
                  <a:srgbClr val="232323"/>
                </a:solidFill>
                <a:latin typeface="Times New Roman"/>
              </a:rPr>
              <a:t>✗ Higher computation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D58C5C-BBDF-B53F-30D2-C986F790F722}"/>
              </a:ext>
            </a:extLst>
          </p:cNvPr>
          <p:cNvSpPr txBox="1"/>
          <p:nvPr/>
        </p:nvSpPr>
        <p:spPr>
          <a:xfrm>
            <a:off x="548640" y="2249471"/>
            <a:ext cx="3637280" cy="36576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3500" tIns="38100" rIns="63500" bIns="381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US" sz="1800" b="0" i="0" u="none" strike="noStrike" baseline="0" dirty="0">
                <a:solidFill>
                  <a:srgbClr val="232323"/>
                </a:solidFill>
                <a:latin typeface="Times New Roman"/>
                <a:cs typeface="Times New Roman"/>
              </a:rPr>
              <a:t>TRPO maximizes the expected improvement of a new policy while constraining the change from the old policy.</a:t>
            </a:r>
            <a:r>
              <a:rPr sz="1800" b="0" i="0" dirty="0">
                <a:solidFill>
                  <a:srgbClr val="232323"/>
                </a:solidFill>
                <a:latin typeface="Times New Roman"/>
                <a:ea typeface="Calibri"/>
                <a:cs typeface="Times New Roman"/>
              </a:rPr>
              <a:t>​</a:t>
            </a:r>
            <a:br>
              <a:rPr b="0" i="0" dirty="0">
                <a:latin typeface="Times New Roman"/>
                <a:ea typeface="Calibri"/>
                <a:cs typeface="Times New Roman"/>
              </a:rPr>
            </a:br>
            <a:r>
              <a:rPr sz="1800" b="0" i="0" dirty="0">
                <a:solidFill>
                  <a:srgbClr val="232323"/>
                </a:solidFill>
                <a:latin typeface="Times New Roman"/>
                <a:ea typeface="Calibri"/>
                <a:cs typeface="Times New Roman"/>
              </a:rPr>
              <a:t>​</a:t>
            </a:r>
            <a:br>
              <a:rPr b="0" i="0" dirty="0">
                <a:latin typeface="Times New Roman"/>
                <a:ea typeface="Calibri"/>
                <a:cs typeface="Times New Roman"/>
              </a:rPr>
            </a:br>
            <a:r>
              <a:rPr lang="en-US" sz="1800" b="0" i="0" u="none" strike="noStrike" baseline="0" dirty="0">
                <a:solidFill>
                  <a:srgbClr val="232323"/>
                </a:solidFill>
                <a:latin typeface="Times New Roman"/>
                <a:cs typeface="Times New Roman"/>
              </a:rPr>
              <a:t>The constraint is based on KL divergence:</a:t>
            </a:r>
            <a:r>
              <a:rPr sz="1800" b="0" i="0" dirty="0">
                <a:solidFill>
                  <a:srgbClr val="232323"/>
                </a:solidFill>
                <a:latin typeface="Times New Roman"/>
                <a:ea typeface="Calibri"/>
                <a:cs typeface="Times New Roman"/>
              </a:rPr>
              <a:t>​</a:t>
            </a:r>
            <a:br>
              <a:rPr b="0" i="0" dirty="0">
                <a:latin typeface="Times New Roman"/>
                <a:ea typeface="Calibri"/>
                <a:cs typeface="Times New Roman"/>
              </a:rPr>
            </a:br>
            <a:r>
              <a:rPr sz="1800" b="0" i="0" dirty="0">
                <a:solidFill>
                  <a:srgbClr val="232323"/>
                </a:solidFill>
                <a:latin typeface="Times New Roman"/>
                <a:ea typeface="Calibri"/>
                <a:cs typeface="Times New Roman"/>
              </a:rPr>
              <a:t>​</a:t>
            </a:r>
            <a:br>
              <a:rPr b="0" i="0" dirty="0">
                <a:latin typeface="Times New Roman"/>
                <a:ea typeface="Calibri"/>
                <a:cs typeface="Times New Roman"/>
              </a:rPr>
            </a:br>
            <a:r>
              <a:rPr lang="en-US" sz="1800" b="0" i="0" u="none" strike="noStrike" baseline="0" dirty="0">
                <a:solidFill>
                  <a:srgbClr val="232323"/>
                </a:solidFill>
                <a:latin typeface="Times New Roman"/>
                <a:cs typeface="Times New Roman"/>
              </a:rPr>
              <a:t>KL(π_old || π_new) ≤ δ</a:t>
            </a:r>
            <a:r>
              <a:rPr sz="1800" b="0" i="0" dirty="0">
                <a:solidFill>
                  <a:srgbClr val="232323"/>
                </a:solidFill>
                <a:latin typeface="Times New Roman"/>
                <a:ea typeface="Calibri"/>
                <a:cs typeface="Times New Roman"/>
              </a:rPr>
              <a:t>​</a:t>
            </a:r>
            <a:br>
              <a:rPr b="0" i="0" dirty="0">
                <a:latin typeface="Times New Roman"/>
                <a:ea typeface="Calibri"/>
                <a:cs typeface="Times New Roman"/>
              </a:rPr>
            </a:br>
            <a:r>
              <a:rPr sz="1800" b="0" i="0" dirty="0">
                <a:solidFill>
                  <a:srgbClr val="232323"/>
                </a:solidFill>
                <a:latin typeface="Times New Roman"/>
                <a:ea typeface="Calibri"/>
                <a:cs typeface="Times New Roman"/>
              </a:rPr>
              <a:t>​</a:t>
            </a:r>
            <a:br>
              <a:rPr b="0" i="0" dirty="0">
                <a:latin typeface="Times New Roman"/>
                <a:ea typeface="Calibri"/>
                <a:cs typeface="Times New Roman"/>
              </a:rPr>
            </a:br>
            <a:r>
              <a:rPr lang="en-US" sz="1800" b="0" i="0" u="none" strike="noStrike" baseline="0" dirty="0">
                <a:solidFill>
                  <a:srgbClr val="232323"/>
                </a:solidFill>
                <a:latin typeface="Times New Roman"/>
                <a:cs typeface="Times New Roman"/>
              </a:rPr>
              <a:t>This prevents destructive, overly large updates.</a:t>
            </a:r>
            <a:r>
              <a:rPr sz="1800" b="0" i="0" dirty="0">
                <a:solidFill>
                  <a:srgbClr val="232323"/>
                </a:solidFill>
                <a:latin typeface="Times New Roman"/>
                <a:ea typeface="Calibri"/>
                <a:cs typeface="Times New Roman"/>
              </a:rPr>
              <a:t>​</a:t>
            </a:r>
            <a:endParaRPr lang="en-US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2A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84D124A-CCC8-4B2F-0E3B-DAF234649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742" y="1500162"/>
            <a:ext cx="5439266" cy="23723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82183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2800" b="1">
                <a:solidFill>
                  <a:srgbClr val="192D4B"/>
                </a:solidFill>
                <a:latin typeface="Aptos Display"/>
              </a:defRPr>
            </a:pPr>
            <a:r>
              <a:rPr sz="2800" b="1" dirty="0">
                <a:solidFill>
                  <a:srgbClr val="23232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TRPO Example — Autonomous Robot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4747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200">
                <a:solidFill>
                  <a:srgbClr val="647080"/>
                </a:solidFill>
                <a:latin typeface="Aptos"/>
              </a:defRPr>
            </a:pPr>
            <a:r>
              <a:rPr sz="1800" b="0">
                <a:solidFill>
                  <a:srgbClr val="232323"/>
                </a:solidFill>
                <a:latin typeface="Times New Roman"/>
              </a:rPr>
              <a:t>A policy update should improve navigation without suddenly changing robot behavior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2926080" cy="4480560"/>
          </a:xfrm>
          <a:prstGeom prst="roundRect">
            <a:avLst/>
          </a:prstGeom>
          <a:solidFill>
            <a:srgbClr val="F5F8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73152" cy="4480560"/>
          </a:xfrm>
          <a:prstGeom prst="rect">
            <a:avLst/>
          </a:prstGeom>
          <a:solidFill>
            <a:srgbClr val="23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517904"/>
            <a:ext cx="2560320" cy="359073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600" b="1">
                <a:solidFill>
                  <a:srgbClr val="192D4B"/>
                </a:solidFill>
              </a:defRPr>
            </a:pPr>
            <a:r>
              <a:rPr sz="2000" b="1" dirty="0">
                <a:solidFill>
                  <a:srgbClr val="232323"/>
                </a:solidFill>
                <a:latin typeface="Times New Roman"/>
              </a:rPr>
              <a:t>Example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38528"/>
            <a:ext cx="2560320" cy="37947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283241"/>
                </a:solidFill>
              </a:defRPr>
            </a:pPr>
            <a:r>
              <a:rPr sz="1800" b="0">
                <a:solidFill>
                  <a:srgbClr val="232323"/>
                </a:solidFill>
                <a:latin typeface="Times New Roman"/>
              </a:rPr>
              <a:t>State:</a:t>
            </a:r>
            <a:br/>
            <a:r>
              <a:rPr sz="1800" b="0">
                <a:solidFill>
                  <a:srgbClr val="232323"/>
                </a:solidFill>
                <a:latin typeface="Times New Roman"/>
              </a:rPr>
              <a:t>• robot position</a:t>
            </a:r>
            <a:br/>
            <a:r>
              <a:rPr sz="1800" b="0">
                <a:solidFill>
                  <a:srgbClr val="232323"/>
                </a:solidFill>
                <a:latin typeface="Times New Roman"/>
              </a:rPr>
              <a:t>• distance to goal</a:t>
            </a:r>
            <a:br/>
            <a:r>
              <a:rPr sz="1800" b="0">
                <a:solidFill>
                  <a:srgbClr val="232323"/>
                </a:solidFill>
                <a:latin typeface="Times New Roman"/>
              </a:rPr>
              <a:t>• obstacle proximity</a:t>
            </a:r>
            <a:br/>
            <a:br/>
            <a:r>
              <a:rPr sz="1800" b="0">
                <a:solidFill>
                  <a:srgbClr val="232323"/>
                </a:solidFill>
                <a:latin typeface="Times New Roman"/>
              </a:rPr>
              <a:t>Actions:</a:t>
            </a:r>
            <a:br/>
            <a:r>
              <a:rPr sz="1800" b="0">
                <a:solidFill>
                  <a:srgbClr val="232323"/>
                </a:solidFill>
                <a:latin typeface="Times New Roman"/>
              </a:rPr>
              <a:t>• move left/right/forward</a:t>
            </a:r>
            <a:br/>
            <a:br/>
            <a:r>
              <a:rPr sz="1800" b="0">
                <a:solidFill>
                  <a:srgbClr val="232323"/>
                </a:solidFill>
                <a:latin typeface="Times New Roman"/>
              </a:rPr>
              <a:t>Reward:</a:t>
            </a:r>
            <a:br/>
            <a:r>
              <a:rPr sz="1800" b="0">
                <a:solidFill>
                  <a:srgbClr val="232323"/>
                </a:solidFill>
                <a:latin typeface="Times New Roman"/>
              </a:rPr>
              <a:t>+10 goal reached</a:t>
            </a:r>
            <a:br/>
            <a:r>
              <a:rPr sz="1800" b="0">
                <a:solidFill>
                  <a:srgbClr val="232323"/>
                </a:solidFill>
                <a:latin typeface="Times New Roman"/>
              </a:rPr>
              <a:t>−5 collision</a:t>
            </a:r>
            <a:br/>
            <a:r>
              <a:rPr sz="1800" b="0">
                <a:solidFill>
                  <a:srgbClr val="232323"/>
                </a:solidFill>
                <a:latin typeface="Times New Roman"/>
              </a:rPr>
              <a:t>−1 unnecessary step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1828800"/>
            <a:ext cx="1645920" cy="9144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23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00000"/>
              </a:lnSpc>
              <a:spcAft>
                <a:spcPts val="300"/>
              </a:spcAft>
              <a:defRPr sz="1500" b="1">
                <a:solidFill>
                  <a:srgbClr val="192D4B"/>
                </a:solidFill>
                <a:latin typeface="Aptos"/>
              </a:defRPr>
            </a:pPr>
            <a:r>
              <a:rPr sz="1800" b="1">
                <a:solidFill>
                  <a:srgbClr val="1C3558"/>
                </a:solidFill>
                <a:latin typeface="Times New Roman"/>
              </a:rPr>
              <a:t>Sensors</a:t>
            </a:r>
            <a:br/>
            <a:r>
              <a:rPr sz="1800" b="1">
                <a:solidFill>
                  <a:srgbClr val="1C3558"/>
                </a:solidFill>
                <a:latin typeface="Times New Roman"/>
              </a:rPr>
              <a:t>STATE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1828800" cy="9144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2D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00000"/>
              </a:lnSpc>
              <a:spcAft>
                <a:spcPts val="300"/>
              </a:spcAft>
              <a:defRPr sz="1500" b="1">
                <a:solidFill>
                  <a:srgbClr val="192D4B"/>
                </a:solidFill>
                <a:latin typeface="Aptos"/>
              </a:defRPr>
            </a:pPr>
            <a:r>
              <a:rPr sz="1800" b="1">
                <a:solidFill>
                  <a:srgbClr val="1C3558"/>
                </a:solidFill>
                <a:latin typeface="Times New Roman"/>
              </a:rPr>
              <a:t>TRPO</a:t>
            </a:r>
            <a:br/>
            <a:r>
              <a:rPr sz="1800" b="1">
                <a:solidFill>
                  <a:srgbClr val="1C3558"/>
                </a:solidFill>
                <a:latin typeface="Times New Roman"/>
              </a:rPr>
              <a:t>POLICY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1828800"/>
            <a:ext cx="1645920" cy="9144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E6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00000"/>
              </a:lnSpc>
              <a:spcAft>
                <a:spcPts val="300"/>
              </a:spcAft>
              <a:defRPr sz="1500" b="1">
                <a:solidFill>
                  <a:srgbClr val="192D4B"/>
                </a:solidFill>
                <a:latin typeface="Aptos"/>
              </a:defRPr>
            </a:pPr>
            <a:r>
              <a:rPr sz="1800" b="1">
                <a:solidFill>
                  <a:srgbClr val="1C3558"/>
                </a:solidFill>
                <a:latin typeface="Times New Roman"/>
              </a:rPr>
              <a:t>MOTOR</a:t>
            </a:r>
            <a:br/>
            <a:r>
              <a:rPr sz="1800" b="1">
                <a:solidFill>
                  <a:srgbClr val="1C3558"/>
                </a:solidFill>
                <a:latin typeface="Times New Roman"/>
              </a:rPr>
              <a:t>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9232" y="3840480"/>
            <a:ext cx="1989056" cy="9144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369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00000"/>
              </a:lnSpc>
              <a:spcAft>
                <a:spcPts val="300"/>
              </a:spcAft>
              <a:defRPr sz="1500" b="1">
                <a:solidFill>
                  <a:srgbClr val="192D4B"/>
                </a:solidFill>
                <a:latin typeface="Aptos"/>
              </a:defRPr>
            </a:pPr>
            <a:r>
              <a:rPr sz="1800" b="1" dirty="0">
                <a:solidFill>
                  <a:srgbClr val="1C3558"/>
                </a:solidFill>
                <a:latin typeface="Times New Roman"/>
              </a:rPr>
              <a:t>ROBOT</a:t>
            </a:r>
            <a:br>
              <a:rPr dirty="0"/>
            </a:br>
            <a:r>
              <a:rPr sz="1800" b="1" dirty="0">
                <a:solidFill>
                  <a:srgbClr val="1C3558"/>
                </a:solidFill>
                <a:latin typeface="Times New Roman"/>
              </a:rPr>
              <a:t>ENVIRONMENT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715000" y="2286000"/>
            <a:ext cx="685800" cy="0"/>
          </a:xfrm>
          <a:prstGeom prst="line">
            <a:avLst/>
          </a:prstGeom>
          <a:ln w="25400">
            <a:solidFill>
              <a:srgbClr val="2D7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229600" y="2286000"/>
            <a:ext cx="914400" cy="0"/>
          </a:xfrm>
          <a:prstGeom prst="line">
            <a:avLst/>
          </a:prstGeom>
          <a:ln w="25400">
            <a:solidFill>
              <a:srgbClr val="2D7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8138160" y="2743200"/>
            <a:ext cx="1828800" cy="1097280"/>
          </a:xfrm>
          <a:prstGeom prst="line">
            <a:avLst/>
          </a:prstGeom>
          <a:ln w="25400">
            <a:solidFill>
              <a:srgbClr val="2D7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4892040" y="2743200"/>
            <a:ext cx="1508760" cy="1097280"/>
          </a:xfrm>
          <a:prstGeom prst="line">
            <a:avLst/>
          </a:prstGeom>
          <a:ln w="25400">
            <a:solidFill>
              <a:srgbClr val="64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069080" y="5074920"/>
            <a:ext cx="6720840" cy="1231612"/>
          </a:xfrm>
          <a:prstGeom prst="roundRect">
            <a:avLst/>
          </a:prstGeom>
          <a:solidFill>
            <a:srgbClr val="F5F8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069080" y="5074920"/>
            <a:ext cx="73152" cy="1307026"/>
          </a:xfrm>
          <a:prstGeom prst="rect">
            <a:avLst/>
          </a:prstGeom>
          <a:solidFill>
            <a:srgbClr val="2D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70248" y="5221224"/>
            <a:ext cx="6355079" cy="359073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600" b="1">
                <a:solidFill>
                  <a:srgbClr val="192D4B"/>
                </a:solidFill>
              </a:defRPr>
            </a:pPr>
            <a:r>
              <a:rPr sz="2000" b="1" dirty="0">
                <a:solidFill>
                  <a:srgbClr val="232323"/>
                </a:solidFill>
                <a:latin typeface="Times New Roman"/>
              </a:rPr>
              <a:t>TRPO behavior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0248" y="5641848"/>
            <a:ext cx="6355079" cy="91439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283241"/>
                </a:solidFill>
              </a:defRPr>
            </a:pPr>
            <a:r>
              <a:rPr sz="1800" b="0">
                <a:solidFill>
                  <a:srgbClr val="232323"/>
                </a:solidFill>
                <a:latin typeface="Times New Roman"/>
              </a:rPr>
              <a:t>Update the policy only when the new policy remains within the trust region → safer and more stable improvement.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2A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315DDD3-7E1B-4628-4F33-A8C4841FC2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62" t="1557" r="4901" b="53410"/>
          <a:stretch>
            <a:fillRect/>
          </a:stretch>
        </p:blipFill>
        <p:spPr>
          <a:xfrm>
            <a:off x="3755478" y="1370736"/>
            <a:ext cx="8128258" cy="346130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82183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2800" b="1">
                <a:solidFill>
                  <a:srgbClr val="192D4B"/>
                </a:solidFill>
                <a:latin typeface="Aptos Display"/>
              </a:defRPr>
            </a:pPr>
            <a:r>
              <a:rPr sz="2800" b="1" dirty="0">
                <a:solidFill>
                  <a:srgbClr val="23232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PPO — Proximal Policy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4747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200">
                <a:solidFill>
                  <a:srgbClr val="647080"/>
                </a:solidFill>
                <a:latin typeface="Aptos"/>
              </a:defRPr>
            </a:pPr>
            <a:r>
              <a:rPr sz="1800" b="0">
                <a:solidFill>
                  <a:srgbClr val="232323"/>
                </a:solidFill>
                <a:latin typeface="Times New Roman"/>
              </a:rPr>
              <a:t>A simpler alternative that keeps policy updates close to the previous policy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657600" cy="4480560"/>
          </a:xfrm>
          <a:prstGeom prst="roundRect">
            <a:avLst/>
          </a:prstGeom>
          <a:solidFill>
            <a:srgbClr val="F5F8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4480560"/>
          </a:xfrm>
          <a:prstGeom prst="rect">
            <a:avLst/>
          </a:prstGeom>
          <a:solidFill>
            <a:srgbClr val="2D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563624"/>
            <a:ext cx="3291840" cy="359073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600" b="1">
                <a:solidFill>
                  <a:srgbClr val="192D4B"/>
                </a:solidFill>
              </a:defRPr>
            </a:pPr>
            <a:r>
              <a:rPr sz="2000" b="1" dirty="0">
                <a:solidFill>
                  <a:srgbClr val="232323"/>
                </a:solidFill>
                <a:latin typeface="Times New Roman"/>
              </a:rPr>
              <a:t>Key concept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84248"/>
            <a:ext cx="3291840" cy="37947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283241"/>
                </a:solidFill>
              </a:defRPr>
            </a:pPr>
            <a:r>
              <a:rPr sz="1800" b="0">
                <a:solidFill>
                  <a:srgbClr val="232323"/>
                </a:solidFill>
                <a:latin typeface="Times New Roman"/>
              </a:rPr>
              <a:t>PPO uses a clipped probability ratio:</a:t>
            </a:r>
            <a:br/>
            <a:br/>
            <a:r>
              <a:rPr sz="1800" b="0">
                <a:solidFill>
                  <a:srgbClr val="232323"/>
                </a:solidFill>
                <a:latin typeface="Times New Roman"/>
              </a:rPr>
              <a:t>r(θ) = πθ(a|s) / πold(a|s)</a:t>
            </a:r>
            <a:br/>
            <a:br/>
            <a:r>
              <a:rPr sz="1800" b="0">
                <a:solidFill>
                  <a:srgbClr val="232323"/>
                </a:solidFill>
                <a:latin typeface="Times New Roman"/>
              </a:rPr>
              <a:t>The objective clips this ratio to a safe interval such as [1−ε, 1+ε].</a:t>
            </a:r>
            <a:br/>
            <a:br/>
            <a:r>
              <a:rPr sz="1800" b="0">
                <a:solidFill>
                  <a:srgbClr val="232323"/>
                </a:solidFill>
                <a:latin typeface="Times New Roman"/>
              </a:rPr>
              <a:t>Typical ε ≈ 0.1–0.2.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5166360"/>
            <a:ext cx="6858000" cy="1170432"/>
          </a:xfrm>
          <a:prstGeom prst="roundRect">
            <a:avLst/>
          </a:prstGeom>
          <a:solidFill>
            <a:srgbClr val="F5F8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711800" y="5166360"/>
            <a:ext cx="73152" cy="1170432"/>
          </a:xfrm>
          <a:prstGeom prst="rect">
            <a:avLst/>
          </a:prstGeom>
          <a:solidFill>
            <a:srgbClr val="23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56048" y="5312664"/>
            <a:ext cx="6492240" cy="359073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600" b="1">
                <a:solidFill>
                  <a:srgbClr val="192D4B"/>
                </a:solidFill>
              </a:defRPr>
            </a:pPr>
            <a:r>
              <a:rPr sz="2000" b="1" dirty="0">
                <a:solidFill>
                  <a:srgbClr val="232323"/>
                </a:solidFill>
                <a:latin typeface="Times New Roman"/>
              </a:rPr>
              <a:t>Why PPO is popular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6048" y="5733288"/>
            <a:ext cx="6492240" cy="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283241"/>
                </a:solidFill>
              </a:defRPr>
            </a:pPr>
            <a:r>
              <a:rPr sz="1800" b="0" dirty="0">
                <a:solidFill>
                  <a:srgbClr val="232323"/>
                </a:solidFill>
                <a:latin typeface="Times New Roman"/>
              </a:rPr>
              <a:t>Good stability + simpler implementation + efficient mini-batch training.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2A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1450326-A3E3-BB72-5CF8-E6176E186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394" y="1631227"/>
            <a:ext cx="6553046" cy="29682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82183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2800" b="1">
                <a:solidFill>
                  <a:srgbClr val="192D4B"/>
                </a:solidFill>
                <a:latin typeface="Aptos Display"/>
              </a:defRPr>
            </a:pPr>
            <a:r>
              <a:rPr sz="2800" b="1" dirty="0">
                <a:solidFill>
                  <a:srgbClr val="23232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PPO Example — </a:t>
            </a:r>
            <a:r>
              <a:rPr sz="2800" b="1" dirty="0" err="1">
                <a:solidFill>
                  <a:srgbClr val="23232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CartPole</a:t>
            </a:r>
            <a:endParaRPr sz="2800" b="1" dirty="0">
              <a:solidFill>
                <a:srgbClr val="232323"/>
              </a:solidFill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4747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200">
                <a:solidFill>
                  <a:srgbClr val="647080"/>
                </a:solidFill>
                <a:latin typeface="Aptos"/>
              </a:defRPr>
            </a:pPr>
            <a:r>
              <a:rPr sz="1800" b="0">
                <a:solidFill>
                  <a:srgbClr val="232323"/>
                </a:solidFill>
                <a:latin typeface="Times New Roman"/>
              </a:rPr>
              <a:t>Learning to keep a pole balanced by improving the policy over repeated episodes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2760" y="1457960"/>
            <a:ext cx="5610134" cy="2683445"/>
          </a:xfrm>
          <a:prstGeom prst="roundRect">
            <a:avLst/>
          </a:prstGeom>
          <a:solidFill>
            <a:srgbClr val="F5F8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62280" y="1468120"/>
            <a:ext cx="73152" cy="2642805"/>
          </a:xfrm>
          <a:prstGeom prst="rect">
            <a:avLst/>
          </a:prstGeom>
          <a:solidFill>
            <a:srgbClr val="23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472184"/>
            <a:ext cx="2468880" cy="359073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600" b="1">
                <a:solidFill>
                  <a:srgbClr val="192D4B"/>
                </a:solidFill>
              </a:defRPr>
            </a:pPr>
            <a:r>
              <a:rPr sz="2000" b="1" dirty="0">
                <a:solidFill>
                  <a:srgbClr val="232323"/>
                </a:solidFill>
                <a:latin typeface="Times New Roman"/>
              </a:rPr>
              <a:t>MDP for </a:t>
            </a:r>
            <a:r>
              <a:rPr sz="2000" b="1" dirty="0" err="1">
                <a:solidFill>
                  <a:srgbClr val="232323"/>
                </a:solidFill>
                <a:latin typeface="Times New Roman"/>
              </a:rPr>
              <a:t>CartPole</a:t>
            </a:r>
            <a:endParaRPr sz="2000" b="1" dirty="0">
              <a:solidFill>
                <a:srgbClr val="232323"/>
              </a:solidFill>
              <a:latin typeface="Times New Roman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2487" y="2055367"/>
            <a:ext cx="6569961" cy="1759456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283241"/>
                </a:solidFill>
              </a:defRPr>
            </a:pPr>
            <a:r>
              <a:rPr sz="1800" b="0" dirty="0">
                <a:solidFill>
                  <a:srgbClr val="232323"/>
                </a:solidFill>
                <a:latin typeface="Times New Roman"/>
              </a:rPr>
              <a:t>State: cart position, cart velocity, pole angle, pole velocity</a:t>
            </a:r>
            <a:br>
              <a:rPr dirty="0"/>
            </a:br>
            <a:br>
              <a:rPr dirty="0"/>
            </a:br>
            <a:r>
              <a:rPr sz="1800" b="0" dirty="0">
                <a:solidFill>
                  <a:srgbClr val="232323"/>
                </a:solidFill>
                <a:latin typeface="Times New Roman"/>
              </a:rPr>
              <a:t>Actions: left / right</a:t>
            </a:r>
            <a:br>
              <a:rPr dirty="0"/>
            </a:br>
            <a:br>
              <a:rPr dirty="0"/>
            </a:br>
            <a:r>
              <a:rPr sz="1800" b="0" dirty="0">
                <a:solidFill>
                  <a:srgbClr val="232323"/>
                </a:solidFill>
                <a:latin typeface="Times New Roman"/>
              </a:rPr>
              <a:t>Reward: +1 for every time step the pole remains balanced</a:t>
            </a:r>
            <a:br>
              <a:rPr dirty="0"/>
            </a:br>
            <a:br>
              <a:rPr dirty="0"/>
            </a:br>
            <a:r>
              <a:rPr sz="1800" b="0" dirty="0">
                <a:solidFill>
                  <a:srgbClr val="232323"/>
                </a:solidFill>
                <a:latin typeface="Times New Roman"/>
              </a:rPr>
              <a:t>Goal: maximize episode length.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93608" y="2057967"/>
            <a:ext cx="1417320" cy="6858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23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00000"/>
              </a:lnSpc>
              <a:spcAft>
                <a:spcPts val="300"/>
              </a:spcAft>
              <a:defRPr sz="1300" b="1">
                <a:solidFill>
                  <a:srgbClr val="192D4B"/>
                </a:solidFill>
                <a:latin typeface="Aptos"/>
              </a:defRPr>
            </a:pPr>
            <a:r>
              <a:rPr sz="1800" b="1">
                <a:solidFill>
                  <a:srgbClr val="1C3558"/>
                </a:solidFill>
                <a:latin typeface="Times New Roman"/>
              </a:rPr>
              <a:t>STATE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02168" y="544068"/>
            <a:ext cx="1600200" cy="6858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2D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00000"/>
              </a:lnSpc>
              <a:spcAft>
                <a:spcPts val="300"/>
              </a:spcAft>
              <a:defRPr sz="1300" b="1">
                <a:solidFill>
                  <a:srgbClr val="192D4B"/>
                </a:solidFill>
                <a:latin typeface="Aptos"/>
              </a:defRPr>
            </a:pPr>
            <a:r>
              <a:rPr sz="1800" b="1">
                <a:solidFill>
                  <a:srgbClr val="1C3558"/>
                </a:solidFill>
                <a:latin typeface="Times New Roman"/>
              </a:rPr>
              <a:t>ACTOR</a:t>
            </a:r>
            <a:br/>
            <a:r>
              <a:rPr sz="1800" b="1">
                <a:solidFill>
                  <a:srgbClr val="1C3558"/>
                </a:solidFill>
                <a:latin typeface="Times New Roman"/>
              </a:rPr>
              <a:t>POLICY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11460" y="548432"/>
            <a:ext cx="1600200" cy="6858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E6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00000"/>
              </a:lnSpc>
              <a:spcAft>
                <a:spcPts val="300"/>
              </a:spcAft>
              <a:defRPr sz="1300" b="1">
                <a:solidFill>
                  <a:srgbClr val="192D4B"/>
                </a:solidFill>
                <a:latin typeface="Aptos"/>
              </a:defRPr>
            </a:pPr>
            <a:r>
              <a:rPr sz="1800" b="1">
                <a:solidFill>
                  <a:srgbClr val="1C3558"/>
                </a:solidFill>
                <a:latin typeface="Times New Roman"/>
              </a:rPr>
              <a:t>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492740" y="2057967"/>
            <a:ext cx="1508760" cy="6858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369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00000"/>
              </a:lnSpc>
              <a:spcAft>
                <a:spcPts val="300"/>
              </a:spcAft>
              <a:defRPr sz="1300" b="1">
                <a:solidFill>
                  <a:srgbClr val="192D4B"/>
                </a:solidFill>
                <a:latin typeface="Aptos"/>
              </a:defRPr>
            </a:pPr>
            <a:r>
              <a:rPr sz="1800" b="1">
                <a:solidFill>
                  <a:srgbClr val="1C3558"/>
                </a:solidFill>
                <a:latin typeface="Times New Roman"/>
              </a:rPr>
              <a:t>CARTPOLE</a:t>
            </a:r>
          </a:p>
        </p:txBody>
      </p:sp>
      <p:cxnSp>
        <p:nvCxnSpPr>
          <p:cNvPr id="13" name="Connector 12"/>
          <p:cNvCxnSpPr>
            <a:cxnSpLocks/>
            <a:stCxn id="10" idx="2"/>
            <a:endCxn id="9" idx="0"/>
          </p:cNvCxnSpPr>
          <p:nvPr/>
        </p:nvCxnSpPr>
        <p:spPr>
          <a:xfrm>
            <a:off x="9002268" y="1229868"/>
            <a:ext cx="0" cy="828099"/>
          </a:xfrm>
          <a:prstGeom prst="line">
            <a:avLst/>
          </a:prstGeom>
          <a:ln w="25400">
            <a:solidFill>
              <a:srgbClr val="2D7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>
            <a:cxnSpLocks/>
            <a:stCxn id="10" idx="3"/>
            <a:endCxn id="11" idx="1"/>
          </p:cNvCxnSpPr>
          <p:nvPr/>
        </p:nvCxnSpPr>
        <p:spPr>
          <a:xfrm>
            <a:off x="9802368" y="886968"/>
            <a:ext cx="609092" cy="4364"/>
          </a:xfrm>
          <a:prstGeom prst="line">
            <a:avLst/>
          </a:prstGeom>
          <a:ln w="25400">
            <a:solidFill>
              <a:srgbClr val="2D7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cxnSpLocks/>
            <a:stCxn id="11" idx="2"/>
          </p:cNvCxnSpPr>
          <p:nvPr/>
        </p:nvCxnSpPr>
        <p:spPr>
          <a:xfrm flipH="1">
            <a:off x="11195063" y="1234232"/>
            <a:ext cx="16497" cy="833895"/>
          </a:xfrm>
          <a:prstGeom prst="line">
            <a:avLst/>
          </a:prstGeom>
          <a:ln w="25400">
            <a:solidFill>
              <a:srgbClr val="2D7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2A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187510BB-CE1F-8E21-95D8-EF9D7B474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1529208"/>
              </p:ext>
            </p:extLst>
          </p:nvPr>
        </p:nvGraphicFramePr>
        <p:xfrm>
          <a:off x="667512" y="4134394"/>
          <a:ext cx="5591886" cy="25681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6" name="Picture 15">
            <a:extLst>
              <a:ext uri="{FF2B5EF4-FFF2-40B4-BE49-F238E27FC236}">
                <a16:creationId xmlns:a16="http://schemas.microsoft.com/office/drawing/2014/main" id="{2D9395F3-A309-D7C8-D754-03294A5BC0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62" t="52614" r="6600" b="2858"/>
          <a:stretch>
            <a:fillRect/>
          </a:stretch>
        </p:blipFill>
        <p:spPr>
          <a:xfrm>
            <a:off x="6249403" y="3425391"/>
            <a:ext cx="5741040" cy="32772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82183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2800" b="1">
                <a:solidFill>
                  <a:srgbClr val="192D4B"/>
                </a:solidFill>
                <a:latin typeface="Aptos Display"/>
              </a:defRPr>
            </a:pPr>
            <a:r>
              <a:rPr sz="2800" b="1" dirty="0">
                <a:solidFill>
                  <a:srgbClr val="23232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DDPG — Deep Deterministic Policy Gradient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4747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200">
                <a:solidFill>
                  <a:srgbClr val="647080"/>
                </a:solidFill>
                <a:latin typeface="Aptos"/>
              </a:defRPr>
            </a:pPr>
            <a:r>
              <a:rPr sz="1800" b="0" dirty="0">
                <a:solidFill>
                  <a:srgbClr val="232323"/>
                </a:solidFill>
                <a:latin typeface="Times New Roman"/>
              </a:rPr>
              <a:t>Actor–critic learning for continuous action spaces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383280" cy="4526280"/>
          </a:xfrm>
          <a:prstGeom prst="roundRect">
            <a:avLst/>
          </a:prstGeom>
          <a:solidFill>
            <a:srgbClr val="F5F8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73152" cy="4526280"/>
          </a:xfrm>
          <a:prstGeom prst="rect">
            <a:avLst/>
          </a:prstGeom>
          <a:solidFill>
            <a:srgbClr val="2D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517904"/>
            <a:ext cx="3017520" cy="359073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600" b="1">
                <a:solidFill>
                  <a:srgbClr val="192D4B"/>
                </a:solidFill>
              </a:defRPr>
            </a:pPr>
            <a:r>
              <a:rPr sz="2000" b="1" dirty="0">
                <a:solidFill>
                  <a:srgbClr val="232323"/>
                </a:solidFill>
                <a:latin typeface="Times New Roman"/>
              </a:rPr>
              <a:t>When to use DDPG?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38528"/>
            <a:ext cx="3017520" cy="38404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283241"/>
                </a:solidFill>
              </a:defRPr>
            </a:pPr>
            <a:r>
              <a:rPr sz="1800" b="0">
                <a:solidFill>
                  <a:srgbClr val="232323"/>
                </a:solidFill>
                <a:latin typeface="Times New Roman"/>
              </a:rPr>
              <a:t>Ideal when actions are continuous rather than discrete.</a:t>
            </a:r>
            <a:br/>
            <a:br/>
            <a:r>
              <a:rPr sz="1800" b="0">
                <a:solidFill>
                  <a:srgbClr val="232323"/>
                </a:solidFill>
                <a:latin typeface="Times New Roman"/>
              </a:rPr>
              <a:t>Examples:</a:t>
            </a:r>
            <a:br/>
            <a:r>
              <a:rPr sz="1800" b="0">
                <a:solidFill>
                  <a:srgbClr val="232323"/>
                </a:solidFill>
                <a:latin typeface="Times New Roman"/>
              </a:rPr>
              <a:t>• robot joint torque</a:t>
            </a:r>
            <a:br/>
            <a:r>
              <a:rPr sz="1800" b="0">
                <a:solidFill>
                  <a:srgbClr val="232323"/>
                </a:solidFill>
                <a:latin typeface="Times New Roman"/>
              </a:rPr>
              <a:t>• steering angle</a:t>
            </a:r>
            <a:br/>
            <a:r>
              <a:rPr sz="1800" b="0">
                <a:solidFill>
                  <a:srgbClr val="232323"/>
                </a:solidFill>
                <a:latin typeface="Times New Roman"/>
              </a:rPr>
              <a:t>• throttle level</a:t>
            </a:r>
            <a:br/>
            <a:r>
              <a:rPr sz="1800" b="0">
                <a:solidFill>
                  <a:srgbClr val="232323"/>
                </a:solidFill>
                <a:latin typeface="Times New Roman"/>
              </a:rPr>
              <a:t>• portfolio allocation weights</a:t>
            </a:r>
            <a:br/>
            <a:br/>
            <a:r>
              <a:rPr sz="1800" b="0">
                <a:solidFill>
                  <a:srgbClr val="232323"/>
                </a:solidFill>
                <a:latin typeface="Times New Roman"/>
              </a:rPr>
              <a:t>DDPG combines deterministic policy gradients with an experience replay buffer and target networks.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38295" y="4892511"/>
            <a:ext cx="5798455" cy="1921654"/>
          </a:xfrm>
          <a:prstGeom prst="roundRect">
            <a:avLst/>
          </a:prstGeom>
          <a:solidFill>
            <a:srgbClr val="F5F8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365143" y="4892511"/>
            <a:ext cx="73152" cy="1921654"/>
          </a:xfrm>
          <a:prstGeom prst="rect">
            <a:avLst/>
          </a:prstGeom>
          <a:solidFill>
            <a:srgbClr val="23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62981" y="4892511"/>
            <a:ext cx="2103120" cy="359073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600" b="1">
                <a:solidFill>
                  <a:srgbClr val="192D4B"/>
                </a:solidFill>
              </a:defRPr>
            </a:pPr>
            <a:r>
              <a:rPr sz="2000" b="1" dirty="0">
                <a:solidFill>
                  <a:srgbClr val="232323"/>
                </a:solidFill>
                <a:latin typeface="Times New Roman"/>
              </a:rPr>
              <a:t>Key components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2981" y="5150633"/>
            <a:ext cx="3654395" cy="166353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lnSpc>
                <a:spcPct val="150000"/>
              </a:lnSpc>
              <a:spcAft>
                <a:spcPts val="300"/>
              </a:spcAft>
              <a:defRPr sz="1300">
                <a:solidFill>
                  <a:srgbClr val="283241"/>
                </a:solidFill>
              </a:defRPr>
            </a:pPr>
            <a:r>
              <a:rPr sz="1800" b="0" dirty="0">
                <a:solidFill>
                  <a:srgbClr val="232323"/>
                </a:solidFill>
                <a:latin typeface="Times New Roman"/>
              </a:rPr>
              <a:t>Actor → chooses action</a:t>
            </a:r>
            <a:br>
              <a:rPr dirty="0"/>
            </a:br>
            <a:r>
              <a:rPr sz="1800" b="0" dirty="0">
                <a:solidFill>
                  <a:srgbClr val="232323"/>
                </a:solidFill>
                <a:latin typeface="Times New Roman"/>
              </a:rPr>
              <a:t>Critic → evaluates action</a:t>
            </a:r>
            <a:br>
              <a:rPr dirty="0"/>
            </a:br>
            <a:r>
              <a:rPr sz="1800" b="0" dirty="0">
                <a:solidFill>
                  <a:srgbClr val="232323"/>
                </a:solidFill>
                <a:latin typeface="Times New Roman"/>
              </a:rPr>
              <a:t>Replay → improves sample efficiency</a:t>
            </a:r>
            <a:br>
              <a:rPr dirty="0"/>
            </a:br>
            <a:r>
              <a:rPr sz="1800" b="0" dirty="0">
                <a:solidFill>
                  <a:srgbClr val="232323"/>
                </a:solidFill>
                <a:latin typeface="Times New Roman"/>
              </a:rPr>
              <a:t>Target networks → stability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2A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8650E27-B01F-9DCF-6139-07FCCEDD2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5513" y="1239003"/>
            <a:ext cx="5987055" cy="310675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82183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2800" b="1">
                <a:solidFill>
                  <a:srgbClr val="192D4B"/>
                </a:solidFill>
                <a:latin typeface="Aptos Display"/>
              </a:defRPr>
            </a:pPr>
            <a:r>
              <a:rPr sz="2800" b="1" dirty="0">
                <a:solidFill>
                  <a:srgbClr val="23232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DDPG Example — Robotic Arm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4747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200">
                <a:solidFill>
                  <a:srgbClr val="647080"/>
                </a:solidFill>
                <a:latin typeface="Aptos"/>
              </a:defRPr>
            </a:pPr>
            <a:r>
              <a:rPr sz="1800" b="0">
                <a:solidFill>
                  <a:srgbClr val="232323"/>
                </a:solidFill>
                <a:latin typeface="Times New Roman"/>
              </a:rPr>
              <a:t>Continuous motor control: choose precise joint movements instead of only left/right actions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2926080" cy="4480560"/>
          </a:xfrm>
          <a:prstGeom prst="roundRect">
            <a:avLst/>
          </a:prstGeom>
          <a:solidFill>
            <a:srgbClr val="F5F8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73152" cy="4480560"/>
          </a:xfrm>
          <a:prstGeom prst="rect">
            <a:avLst/>
          </a:prstGeom>
          <a:solidFill>
            <a:srgbClr val="23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517904"/>
            <a:ext cx="2560320" cy="359073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600" b="1">
                <a:solidFill>
                  <a:srgbClr val="192D4B"/>
                </a:solidFill>
              </a:defRPr>
            </a:pPr>
            <a:r>
              <a:rPr sz="2000" b="1" dirty="0">
                <a:solidFill>
                  <a:srgbClr val="232323"/>
                </a:solidFill>
                <a:latin typeface="Times New Roman"/>
              </a:rPr>
              <a:t>Problem 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38528"/>
            <a:ext cx="2560320" cy="37947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283241"/>
                </a:solidFill>
              </a:defRPr>
            </a:pPr>
            <a:r>
              <a:rPr sz="1800" b="0">
                <a:solidFill>
                  <a:srgbClr val="232323"/>
                </a:solidFill>
                <a:latin typeface="Times New Roman"/>
              </a:rPr>
              <a:t>State:</a:t>
            </a:r>
            <a:br/>
            <a:r>
              <a:rPr sz="1800" b="0">
                <a:solidFill>
                  <a:srgbClr val="232323"/>
                </a:solidFill>
                <a:latin typeface="Times New Roman"/>
              </a:rPr>
              <a:t>• joint angles</a:t>
            </a:r>
            <a:br/>
            <a:r>
              <a:rPr sz="1800" b="0">
                <a:solidFill>
                  <a:srgbClr val="232323"/>
                </a:solidFill>
                <a:latin typeface="Times New Roman"/>
              </a:rPr>
              <a:t>• joint velocities</a:t>
            </a:r>
            <a:br/>
            <a:r>
              <a:rPr sz="1800" b="0">
                <a:solidFill>
                  <a:srgbClr val="232323"/>
                </a:solidFill>
                <a:latin typeface="Times New Roman"/>
              </a:rPr>
              <a:t>• target position</a:t>
            </a:r>
            <a:br/>
            <a:br/>
            <a:r>
              <a:rPr sz="1800" b="0">
                <a:solidFill>
                  <a:srgbClr val="232323"/>
                </a:solidFill>
                <a:latin typeface="Times New Roman"/>
              </a:rPr>
              <a:t>Action:</a:t>
            </a:r>
            <a:br/>
            <a:r>
              <a:rPr sz="1800" b="0">
                <a:solidFill>
                  <a:srgbClr val="232323"/>
                </a:solidFill>
                <a:latin typeface="Times New Roman"/>
              </a:rPr>
              <a:t>continuous motor torque for each joint</a:t>
            </a:r>
            <a:br/>
            <a:br/>
            <a:r>
              <a:rPr sz="1800" b="0">
                <a:solidFill>
                  <a:srgbClr val="232323"/>
                </a:solidFill>
                <a:latin typeface="Times New Roman"/>
              </a:rPr>
              <a:t>Reward:</a:t>
            </a:r>
            <a:br/>
            <a:r>
              <a:rPr sz="1800" b="0">
                <a:solidFill>
                  <a:srgbClr val="232323"/>
                </a:solidFill>
                <a:latin typeface="Times New Roman"/>
              </a:rPr>
              <a:t>+10 near target</a:t>
            </a:r>
            <a:br/>
            <a:r>
              <a:rPr sz="1800" b="0">
                <a:solidFill>
                  <a:srgbClr val="232323"/>
                </a:solidFill>
                <a:latin typeface="Times New Roman"/>
              </a:rPr>
              <a:t>−distance to target</a:t>
            </a:r>
            <a:br/>
            <a:r>
              <a:rPr sz="1800" b="0">
                <a:solidFill>
                  <a:srgbClr val="232323"/>
                </a:solidFill>
                <a:latin typeface="Times New Roman"/>
              </a:rPr>
              <a:t>−collision penalty</a:t>
            </a:r>
            <a:br/>
            <a:r>
              <a:rPr sz="1800" b="0">
                <a:solidFill>
                  <a:srgbClr val="232323"/>
                </a:solidFill>
                <a:latin typeface="Times New Roman"/>
              </a:rPr>
              <a:t>−energy cost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47153" y="4897841"/>
            <a:ext cx="7589520" cy="1027471"/>
          </a:xfrm>
          <a:prstGeom prst="roundRect">
            <a:avLst/>
          </a:prstGeom>
          <a:solidFill>
            <a:srgbClr val="F5F8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124428" y="4826360"/>
            <a:ext cx="73152" cy="1170432"/>
          </a:xfrm>
          <a:prstGeom prst="rect">
            <a:avLst/>
          </a:prstGeom>
          <a:solidFill>
            <a:srgbClr val="2D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81498" y="4954703"/>
            <a:ext cx="7223760" cy="359073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600" b="1">
                <a:solidFill>
                  <a:srgbClr val="192D4B"/>
                </a:solidFill>
              </a:defRPr>
            </a:pPr>
            <a:r>
              <a:rPr sz="2000" b="1" dirty="0">
                <a:solidFill>
                  <a:srgbClr val="232323"/>
                </a:solidFill>
                <a:latin typeface="Times New Roman"/>
              </a:rPr>
              <a:t>Main advantage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07405" y="5313776"/>
            <a:ext cx="7223760" cy="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283241"/>
                </a:solidFill>
              </a:defRPr>
            </a:pPr>
            <a:r>
              <a:rPr sz="1800" b="0" dirty="0">
                <a:solidFill>
                  <a:srgbClr val="232323"/>
                </a:solidFill>
                <a:latin typeface="Times New Roman"/>
              </a:rPr>
              <a:t>DDPG can learn fine-grained continuous control where discrete-action methods are less natural.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4424" y="6074838"/>
            <a:ext cx="10789920" cy="64008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00000"/>
              </a:lnSpc>
              <a:spcAft>
                <a:spcPts val="300"/>
              </a:spcAft>
              <a:defRPr sz="1500" b="1">
                <a:solidFill>
                  <a:srgbClr val="374B64"/>
                </a:solidFill>
              </a:defRPr>
            </a:pPr>
            <a:r>
              <a:rPr sz="1800" b="1">
                <a:solidFill>
                  <a:srgbClr val="1C3558"/>
                </a:solidFill>
                <a:latin typeface="Times New Roman"/>
              </a:rPr>
              <a:t>Visual takeaway:  TRPO → safe updates   |   PPO → stable clipped updates   |   DDPG → continuous control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2A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ddpg_portfolio.png"/>
          <p:cNvPicPr>
            <a:picLocks noChangeAspect="1"/>
          </p:cNvPicPr>
          <p:nvPr/>
        </p:nvPicPr>
        <p:blipFill>
          <a:blip r:embed="rId2"/>
          <a:srcRect b="13987"/>
          <a:stretch>
            <a:fillRect/>
          </a:stretch>
        </p:blipFill>
        <p:spPr>
          <a:xfrm>
            <a:off x="4407405" y="1207498"/>
            <a:ext cx="7171947" cy="33279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  <a:defRPr sz="900">
                <a:solidFill>
                  <a:srgbClr val="647080"/>
                </a:solidFill>
              </a:defRPr>
            </a:pPr>
            <a:r>
              <a:rPr sz="1200" b="0">
                <a:solidFill>
                  <a:srgbClr val="6E7882"/>
                </a:solidFill>
                <a:latin typeface="Times New Roman"/>
              </a:rP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219456"/>
            <a:ext cx="10397859" cy="507831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1" dirty="0">
                <a:latin typeface="Batang" panose="02030600000101010101" pitchFamily="18" charset="-127"/>
                <a:ea typeface="Batang" panose="02030600000101010101" pitchFamily="18" charset="-127"/>
              </a:rPr>
              <a:t>Comparison focused on convergence, stability and efficiency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0031462"/>
              </p:ext>
            </p:extLst>
          </p:nvPr>
        </p:nvGraphicFramePr>
        <p:xfrm>
          <a:off x="617692" y="1020220"/>
          <a:ext cx="8320568" cy="44475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01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01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01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01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126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Criterion</a:t>
                      </a:r>
                    </a:p>
                  </a:txBody>
                  <a:tcPr marL="63500" marR="63500" marT="38100" marB="38100" anchor="ctr">
                    <a:solidFill>
                      <a:srgbClr val="1C35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TRPO</a:t>
                      </a:r>
                    </a:p>
                  </a:txBody>
                  <a:tcPr marL="63500" marR="63500" marT="38100" marB="38100" anchor="ctr">
                    <a:solidFill>
                      <a:srgbClr val="1C35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PPO</a:t>
                      </a:r>
                    </a:p>
                  </a:txBody>
                  <a:tcPr marL="63500" marR="63500" marT="38100" marB="38100" anchor="ctr">
                    <a:solidFill>
                      <a:srgbClr val="1C35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DDPG</a:t>
                      </a:r>
                    </a:p>
                  </a:txBody>
                  <a:tcPr marL="63500" marR="63500" marT="38100" marB="38100" anchor="ctr">
                    <a:solidFill>
                      <a:srgbClr val="1C35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126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0">
                          <a:solidFill>
                            <a:srgbClr val="232323"/>
                          </a:solidFill>
                          <a:latin typeface="Times New Roman"/>
                        </a:rPr>
                        <a:t>Action space</a:t>
                      </a:r>
                    </a:p>
                  </a:txBody>
                  <a:tcPr marL="63500" marR="63500" marT="38100" marB="38100" anchor="ctr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0">
                          <a:solidFill>
                            <a:srgbClr val="232323"/>
                          </a:solidFill>
                          <a:latin typeface="Times New Roman"/>
                        </a:rPr>
                        <a:t>Discrete /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0">
                          <a:solidFill>
                            <a:srgbClr val="232323"/>
                          </a:solidFill>
                          <a:latin typeface="Times New Roman"/>
                        </a:rPr>
                        <a:t>continuous</a:t>
                      </a:r>
                    </a:p>
                  </a:txBody>
                  <a:tcPr marL="63500" marR="63500" marT="38100" marB="38100" anchor="ctr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0">
                          <a:solidFill>
                            <a:srgbClr val="232323"/>
                          </a:solidFill>
                          <a:latin typeface="Times New Roman"/>
                        </a:rPr>
                        <a:t>Discrete /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0">
                          <a:solidFill>
                            <a:srgbClr val="232323"/>
                          </a:solidFill>
                          <a:latin typeface="Times New Roman"/>
                        </a:rPr>
                        <a:t>continuous</a:t>
                      </a:r>
                    </a:p>
                  </a:txBody>
                  <a:tcPr marL="63500" marR="63500" marT="38100" marB="38100" anchor="ctr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0">
                          <a:solidFill>
                            <a:srgbClr val="232323"/>
                          </a:solidFill>
                          <a:latin typeface="Times New Roman"/>
                        </a:rPr>
                        <a:t>Continuous</a:t>
                      </a:r>
                    </a:p>
                  </a:txBody>
                  <a:tcPr marL="63500" marR="63500" marT="38100" marB="38100" anchor="ctr">
                    <a:solidFill>
                      <a:srgbClr val="F6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126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0">
                          <a:solidFill>
                            <a:srgbClr val="232323"/>
                          </a:solidFill>
                          <a:latin typeface="Times New Roman"/>
                        </a:rPr>
                        <a:t>Convergence</a:t>
                      </a:r>
                    </a:p>
                  </a:txBody>
                  <a:tcPr marL="63500" marR="63500" marT="38100" marB="38100" anchor="ctr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0">
                          <a:solidFill>
                            <a:srgbClr val="232323"/>
                          </a:solidFill>
                          <a:latin typeface="Times New Roman"/>
                        </a:rPr>
                        <a:t>Stable, but slower</a:t>
                      </a:r>
                    </a:p>
                  </a:txBody>
                  <a:tcPr marL="63500" marR="63500" marT="38100" marB="38100" anchor="ctr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0">
                          <a:solidFill>
                            <a:srgbClr val="232323"/>
                          </a:solidFill>
                          <a:latin typeface="Times New Roman"/>
                        </a:rPr>
                        <a:t>Fast and reliable</a:t>
                      </a:r>
                    </a:p>
                  </a:txBody>
                  <a:tcPr marL="63500" marR="63500" marT="38100" marB="38100" anchor="ctr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0">
                          <a:solidFill>
                            <a:srgbClr val="232323"/>
                          </a:solidFill>
                          <a:latin typeface="Times New Roman"/>
                        </a:rPr>
                        <a:t>Can be unstable</a:t>
                      </a:r>
                    </a:p>
                  </a:txBody>
                  <a:tcPr marL="63500" marR="63500" marT="38100" marB="38100" anchor="ctr">
                    <a:solidFill>
                      <a:srgbClr val="F6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126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0">
                          <a:solidFill>
                            <a:srgbClr val="232323"/>
                          </a:solidFill>
                          <a:latin typeface="Times New Roman"/>
                        </a:rPr>
                        <a:t>Stability</a:t>
                      </a:r>
                    </a:p>
                  </a:txBody>
                  <a:tcPr marL="63500" marR="63500" marT="38100" marB="38100" anchor="ctr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0">
                          <a:solidFill>
                            <a:srgbClr val="232323"/>
                          </a:solidFill>
                          <a:latin typeface="Times New Roman"/>
                        </a:rPr>
                        <a:t>★★★★★</a:t>
                      </a:r>
                    </a:p>
                  </a:txBody>
                  <a:tcPr marL="63500" marR="63500" marT="38100" marB="38100" anchor="ctr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0">
                          <a:solidFill>
                            <a:srgbClr val="232323"/>
                          </a:solidFill>
                          <a:latin typeface="Times New Roman"/>
                        </a:rPr>
                        <a:t>★★★★☆</a:t>
                      </a:r>
                    </a:p>
                  </a:txBody>
                  <a:tcPr marL="63500" marR="63500" marT="38100" marB="38100" anchor="ctr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0">
                          <a:solidFill>
                            <a:srgbClr val="232323"/>
                          </a:solidFill>
                          <a:latin typeface="Times New Roman"/>
                        </a:rPr>
                        <a:t>★★★☆☆</a:t>
                      </a:r>
                    </a:p>
                  </a:txBody>
                  <a:tcPr marL="63500" marR="63500" marT="38100" marB="38100" anchor="ctr">
                    <a:solidFill>
                      <a:srgbClr val="F6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126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0">
                          <a:solidFill>
                            <a:srgbClr val="232323"/>
                          </a:solidFill>
                          <a:latin typeface="Times New Roman"/>
                        </a:rPr>
                        <a:t>Sample efficiency</a:t>
                      </a:r>
                    </a:p>
                  </a:txBody>
                  <a:tcPr marL="63500" marR="63500" marT="38100" marB="38100" anchor="ctr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0">
                          <a:solidFill>
                            <a:srgbClr val="232323"/>
                          </a:solidFill>
                          <a:latin typeface="Times New Roman"/>
                        </a:rPr>
                        <a:t>Good</a:t>
                      </a:r>
                    </a:p>
                  </a:txBody>
                  <a:tcPr marL="63500" marR="63500" marT="38100" marB="38100" anchor="ctr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0">
                          <a:solidFill>
                            <a:srgbClr val="232323"/>
                          </a:solidFill>
                          <a:latin typeface="Times New Roman"/>
                        </a:rPr>
                        <a:t>Very good</a:t>
                      </a:r>
                    </a:p>
                  </a:txBody>
                  <a:tcPr marL="63500" marR="63500" marT="38100" marB="38100" anchor="ctr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0">
                          <a:solidFill>
                            <a:srgbClr val="232323"/>
                          </a:solidFill>
                          <a:latin typeface="Times New Roman"/>
                        </a:rPr>
                        <a:t>Good with replay</a:t>
                      </a:r>
                    </a:p>
                  </a:txBody>
                  <a:tcPr marL="63500" marR="63500" marT="38100" marB="38100" anchor="ctr">
                    <a:solidFill>
                      <a:srgbClr val="F6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126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0">
                          <a:solidFill>
                            <a:srgbClr val="232323"/>
                          </a:solidFill>
                          <a:latin typeface="Times New Roman"/>
                        </a:rPr>
                        <a:t>Computation</a:t>
                      </a:r>
                    </a:p>
                  </a:txBody>
                  <a:tcPr marL="63500" marR="63500" marT="38100" marB="38100" anchor="ctr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0">
                          <a:solidFill>
                            <a:srgbClr val="232323"/>
                          </a:solidFill>
                          <a:latin typeface="Times New Roman"/>
                        </a:rPr>
                        <a:t>High</a:t>
                      </a:r>
                    </a:p>
                  </a:txBody>
                  <a:tcPr marL="63500" marR="63500" marT="38100" marB="38100" anchor="ctr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0">
                          <a:solidFill>
                            <a:srgbClr val="232323"/>
                          </a:solidFill>
                          <a:latin typeface="Times New Roman"/>
                        </a:rPr>
                        <a:t>Moderate</a:t>
                      </a:r>
                    </a:p>
                  </a:txBody>
                  <a:tcPr marL="63500" marR="63500" marT="38100" marB="38100" anchor="ctr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0" dirty="0">
                          <a:solidFill>
                            <a:srgbClr val="232323"/>
                          </a:solidFill>
                          <a:latin typeface="Times New Roman"/>
                        </a:rPr>
                        <a:t>Moderate</a:t>
                      </a:r>
                    </a:p>
                  </a:txBody>
                  <a:tcPr marL="63500" marR="63500" marT="38100" marB="38100" anchor="ctr">
                    <a:solidFill>
                      <a:srgbClr val="F6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502920" y="5760720"/>
            <a:ext cx="1965960" cy="45720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Main strength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12016" y="5734796"/>
            <a:ext cx="1965960" cy="45720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800" b="1" dirty="0">
                <a:solidFill>
                  <a:srgbClr val="1C3558"/>
                </a:solidFill>
                <a:latin typeface="Times New Roman"/>
              </a:rPr>
              <a:t>Trust-region safety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33188" y="5746580"/>
            <a:ext cx="1965960" cy="45720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800" b="1" dirty="0">
                <a:solidFill>
                  <a:srgbClr val="1C3558"/>
                </a:solidFill>
                <a:latin typeface="Times New Roman"/>
              </a:rPr>
              <a:t>Practical stability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81208" y="5742809"/>
            <a:ext cx="1965960" cy="45720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800" b="1" dirty="0">
                <a:solidFill>
                  <a:srgbClr val="1C3558"/>
                </a:solidFill>
                <a:latin typeface="Times New Roman"/>
              </a:rPr>
              <a:t>Continuous control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290304" y="1463040"/>
            <a:ext cx="2788920" cy="4709160"/>
          </a:xfrm>
          <a:prstGeom prst="roundRect">
            <a:avLst/>
          </a:prstGeom>
          <a:solidFill>
            <a:srgbClr val="F6F9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473184" y="1641348"/>
            <a:ext cx="2423160" cy="41148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2000" b="1" dirty="0">
                <a:solidFill>
                  <a:srgbClr val="1C3558"/>
                </a:solidFill>
                <a:latin typeface="Times New Roman"/>
              </a:rPr>
              <a:t>Bottom line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73184" y="2348374"/>
            <a:ext cx="2423160" cy="327782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800" b="0" dirty="0">
                <a:solidFill>
                  <a:srgbClr val="232323"/>
                </a:solidFill>
                <a:latin typeface="Times New Roman"/>
              </a:rPr>
              <a:t>PPO is usually the best classroom and practical default.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endParaRPr sz="1800" b="0" dirty="0">
              <a:solidFill>
                <a:srgbClr val="232323"/>
              </a:solidFill>
              <a:latin typeface="Times New Roman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800" b="0" dirty="0">
                <a:solidFill>
                  <a:srgbClr val="232323"/>
                </a:solidFill>
                <a:latin typeface="Times New Roman"/>
              </a:rPr>
              <a:t>TRPO is valuable when update stability is the priority.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endParaRPr sz="1800" b="0" dirty="0">
              <a:solidFill>
                <a:srgbClr val="232323"/>
              </a:solidFill>
              <a:latin typeface="Times New Roman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800" b="0" dirty="0">
                <a:solidFill>
                  <a:srgbClr val="232323"/>
                </a:solidFill>
                <a:latin typeface="Times New Roman"/>
              </a:rPr>
              <a:t>DDPG is the natural choice when actions are continuous.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90736"/>
            <a:ext cx="10972800" cy="507831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2800" b="1">
                <a:solidFill>
                  <a:srgbClr val="192D4B"/>
                </a:solidFill>
                <a:latin typeface="Aptos Display"/>
              </a:defRPr>
            </a:pPr>
            <a:r>
              <a:rPr sz="2800" b="1" dirty="0">
                <a:latin typeface="Batang" panose="02030600000101010101" pitchFamily="18" charset="-127"/>
                <a:ea typeface="Batang" panose="02030600000101010101" pitchFamily="18" charset="-127"/>
              </a:rPr>
              <a:t>Conclusion — Choosing the Right Policy Optimizer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383280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3566160"/>
          </a:xfrm>
          <a:prstGeom prst="rect">
            <a:avLst/>
          </a:prstGeom>
          <a:solidFill>
            <a:srgbClr val="2D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31284"/>
            <a:ext cx="3017520" cy="384721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1600" b="1">
                <a:solidFill>
                  <a:srgbClr val="192D4B"/>
                </a:solidFill>
              </a:defRPr>
            </a:pPr>
            <a:r>
              <a:rPr sz="2000" b="1" dirty="0">
                <a:solidFill>
                  <a:srgbClr val="232323"/>
                </a:solidFill>
                <a:latin typeface="Times New Roman"/>
              </a:rPr>
              <a:t>TRPO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84248"/>
            <a:ext cx="3017520" cy="28803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283241"/>
                </a:solidFill>
              </a:defRPr>
            </a:pPr>
            <a:r>
              <a:rPr sz="1800" b="0" dirty="0">
                <a:solidFill>
                  <a:srgbClr val="232323"/>
                </a:solidFill>
                <a:latin typeface="Times New Roman"/>
              </a:rPr>
              <a:t>Best for stable, conservative policy updates.</a:t>
            </a:r>
            <a:br>
              <a:rPr dirty="0"/>
            </a:br>
            <a:br>
              <a:rPr dirty="0"/>
            </a:br>
            <a:r>
              <a:rPr sz="1800" b="0" dirty="0">
                <a:solidFill>
                  <a:srgbClr val="232323"/>
                </a:solidFill>
                <a:latin typeface="Times New Roman"/>
              </a:rPr>
              <a:t>Key idea: constrain policy change using KL divergence.</a:t>
            </a:r>
            <a:br>
              <a:rPr dirty="0"/>
            </a:br>
            <a:br>
              <a:rPr dirty="0"/>
            </a:br>
            <a:r>
              <a:rPr sz="1800" b="0" dirty="0">
                <a:solidFill>
                  <a:srgbClr val="232323"/>
                </a:solidFill>
                <a:latin typeface="Times New Roman"/>
              </a:rPr>
              <a:t>Use when stability is more important than implementation simplicity.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383280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73152" cy="3566160"/>
          </a:xfrm>
          <a:prstGeom prst="rect">
            <a:avLst/>
          </a:prstGeom>
          <a:solidFill>
            <a:srgbClr val="23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531284"/>
            <a:ext cx="3017520" cy="384721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1600" b="1">
                <a:solidFill>
                  <a:srgbClr val="192D4B"/>
                </a:solidFill>
              </a:defRPr>
            </a:pPr>
            <a:r>
              <a:rPr sz="2000" b="1" dirty="0">
                <a:solidFill>
                  <a:srgbClr val="232323"/>
                </a:solidFill>
                <a:latin typeface="Times New Roman"/>
              </a:rPr>
              <a:t>PPO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984248"/>
            <a:ext cx="3017520" cy="28803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283241"/>
                </a:solidFill>
              </a:defRPr>
            </a:pPr>
            <a:r>
              <a:rPr sz="1800" b="0" dirty="0">
                <a:solidFill>
                  <a:srgbClr val="232323"/>
                </a:solidFill>
                <a:latin typeface="Times New Roman"/>
              </a:rPr>
              <a:t>Best general-purpose choice.</a:t>
            </a:r>
            <a:br>
              <a:rPr dirty="0"/>
            </a:br>
            <a:br>
              <a:rPr dirty="0"/>
            </a:br>
            <a:r>
              <a:rPr sz="1800" b="0" dirty="0">
                <a:solidFill>
                  <a:srgbClr val="232323"/>
                </a:solidFill>
                <a:latin typeface="Times New Roman"/>
              </a:rPr>
              <a:t>Key idea: clip policy updates so learning remains stable without TRPO's heavier optimization.</a:t>
            </a:r>
            <a:br>
              <a:rPr dirty="0"/>
            </a:br>
            <a:br>
              <a:rPr dirty="0"/>
            </a:br>
            <a:r>
              <a:rPr sz="1800" b="0" dirty="0">
                <a:solidFill>
                  <a:srgbClr val="232323"/>
                </a:solidFill>
                <a:latin typeface="Times New Roman"/>
              </a:rPr>
              <a:t>Excellent balance of convergence, stability and efficiency.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17320"/>
            <a:ext cx="3383280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417320"/>
            <a:ext cx="73152" cy="3566160"/>
          </a:xfrm>
          <a:prstGeom prst="rect">
            <a:avLst/>
          </a:prstGeom>
          <a:solidFill>
            <a:srgbClr val="E6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7888" y="1531284"/>
            <a:ext cx="3017520" cy="384721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1600" b="1">
                <a:solidFill>
                  <a:srgbClr val="192D4B"/>
                </a:solidFill>
              </a:defRPr>
            </a:pPr>
            <a:r>
              <a:rPr sz="2000" b="1" dirty="0">
                <a:solidFill>
                  <a:srgbClr val="232323"/>
                </a:solidFill>
                <a:latin typeface="Times New Roman"/>
              </a:rPr>
              <a:t>DDPG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  <a:defRPr sz="900">
                <a:solidFill>
                  <a:srgbClr val="647080"/>
                </a:solidFill>
              </a:defRPr>
            </a:pPr>
            <a:r>
              <a:rPr sz="1200" b="0">
                <a:solidFill>
                  <a:srgbClr val="6E7882"/>
                </a:solidFill>
                <a:latin typeface="Times New Roman"/>
              </a:rPr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2A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B6566F-832D-69CE-E9A1-ECB597E41B50}"/>
              </a:ext>
            </a:extLst>
          </p:cNvPr>
          <p:cNvSpPr txBox="1"/>
          <p:nvPr/>
        </p:nvSpPr>
        <p:spPr>
          <a:xfrm>
            <a:off x="8247888" y="1925467"/>
            <a:ext cx="2633472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283241"/>
                </a:solidFill>
              </a:defRPr>
            </a:pPr>
            <a:r>
              <a:rPr lang="en-US" sz="1900" dirty="0">
                <a:latin typeface=" TIMES NEW ROMAN"/>
                <a:cs typeface="Times" panose="02020603050405020304" pitchFamily="18" charset="0"/>
              </a:rPr>
              <a:t>Best for continuous control.</a:t>
            </a:r>
            <a:br>
              <a:rPr lang="en-US" sz="1900" dirty="0">
                <a:latin typeface=" TIMES NEW ROMAN"/>
                <a:cs typeface="Times" panose="02020603050405020304" pitchFamily="18" charset="0"/>
              </a:rPr>
            </a:br>
            <a:br>
              <a:rPr lang="en-US" sz="1900" dirty="0">
                <a:latin typeface=" TIMES NEW ROMAN"/>
                <a:cs typeface="Times" panose="02020603050405020304" pitchFamily="18" charset="0"/>
              </a:rPr>
            </a:br>
            <a:r>
              <a:rPr lang="en-US" sz="1900" dirty="0">
                <a:latin typeface=" TIMES NEW ROMAN"/>
                <a:cs typeface="Times" panose="02020603050405020304" pitchFamily="18" charset="0"/>
              </a:rPr>
              <a:t>Key idea: actor chooses continuous actions while critic evaluates them.</a:t>
            </a:r>
            <a:br>
              <a:rPr lang="en-US" sz="1900" dirty="0">
                <a:latin typeface=" TIMES NEW ROMAN"/>
                <a:cs typeface="Times" panose="02020603050405020304" pitchFamily="18" charset="0"/>
              </a:rPr>
            </a:br>
            <a:br>
              <a:rPr lang="en-US" sz="1900" dirty="0">
                <a:latin typeface=" TIMES NEW ROMAN"/>
                <a:cs typeface="Times" panose="02020603050405020304" pitchFamily="18" charset="0"/>
              </a:rPr>
            </a:br>
            <a:r>
              <a:rPr lang="en-US" sz="1900" dirty="0">
                <a:latin typeface=" TIMES NEW ROMAN"/>
                <a:cs typeface="Times" panose="02020603050405020304" pitchFamily="18" charset="0"/>
              </a:rPr>
              <a:t>Useful in robotics, control and resource allocation.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85D473-8F6C-6190-D79A-83272B0F1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578" y="1525065"/>
            <a:ext cx="9664846" cy="3629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401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894</Words>
  <Application>Microsoft Office PowerPoint</Application>
  <PresentationFormat>Widescreen</PresentationFormat>
  <Paragraphs>107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Batang</vt:lpstr>
      <vt:lpstr> TIMES NEW ROMAN</vt:lpstr>
      <vt:lpstr>Arial</vt:lpstr>
      <vt:lpstr>Calibri</vt:lpstr>
      <vt:lpstr>Times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Sirivally Singari</cp:lastModifiedBy>
  <cp:revision>129</cp:revision>
  <dcterms:created xsi:type="dcterms:W3CDTF">2013-01-27T09:14:16Z</dcterms:created>
  <dcterms:modified xsi:type="dcterms:W3CDTF">2026-08-18T08:50:00Z</dcterms:modified>
  <cp:category/>
</cp:coreProperties>
</file>